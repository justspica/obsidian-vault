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  <p:embeddedFont>
      <p:font typeface="Gill Sans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1" roundtripDataSignature="AMtx7mi68kphoFcjQGu1ZZNWn6B+cb8w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72C512-7C56-4B2D-8592-3DD3558D2ACE}">
  <a:tblStyle styleId="{D572C512-7C56-4B2D-8592-3DD3558D2ACE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1">
              <a:alpha val="40000"/>
            </a:scheme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9119FEA5-200E-40DB-8F35-CA4A21CFD9F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DC8FF0A-3E31-4EE0-A6A6-F96A0757115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144F0F1-B87E-427D-9D62-2BAAC41AA74A}" styleName="Table_3">
    <a:wholeTbl>
      <a:tcTxStyle b="off" i="off">
        <a:font>
          <a:latin typeface="Gill Sans MT"/>
          <a:ea typeface="Gill Sans MT"/>
          <a:cs typeface="Gill Sans MT"/>
        </a:font>
        <a:srgbClr val="000000"/>
      </a:tcTxStyle>
      <a:tcStyle>
        <a:tcBdr>
          <a:lef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4F81BD">
              <a:alpha val="40000"/>
            </a:srgbClr>
          </a:solidFill>
        </a:fill>
      </a:tcStyle>
    </a:band1H>
    <a:band2H>
      <a:tcTxStyle b="off" i="off"/>
    </a:band2H>
    <a:band1V>
      <a:tcTxStyle b="off" i="off"/>
      <a:tcStyle>
        <a:tcBdr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>
              <a:alpha val="40000"/>
            </a:srgbClr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Gill Sans MT"/>
          <a:ea typeface="Gill Sans MT"/>
          <a:cs typeface="Gill Sans MT"/>
        </a:font>
        <a:srgbClr val="FFFFFF"/>
      </a:tcTxStyle>
      <a:tcStyle>
        <a:tcBdr>
          <a:lef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Gill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bold.fntdata"/><Relationship Id="rId15" Type="http://schemas.openxmlformats.org/officeDocument/2006/relationships/slide" Target="slides/slide9.xml"/><Relationship Id="rId59" Type="http://schemas.openxmlformats.org/officeDocument/2006/relationships/font" Target="fonts/GillSans-regular.fntdata"/><Relationship Id="rId14" Type="http://schemas.openxmlformats.org/officeDocument/2006/relationships/slide" Target="slides/slide8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8bef7609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58bef76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g358bef7609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8d3b64ba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58d3b64b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58d3b64ba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8d3b64bad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58d3b64ba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358d3b64bad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8d3b64bad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58d3b64ba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58d3b64bad_0_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58d3b64bad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58d3b64ba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358d3b64bad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58d3b64bad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58d3b64ba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g358d3b64bad_0_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58d3b64bad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58d3b64ba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g358d3b64bad_0_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8d3b64bad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58d3b64ba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58d3b64bad_0_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8d3b64bad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58d3b64ba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358d3b64bad_0_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58d3b64bad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58d3b64bad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58d3b64bad_0_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8d3b64bad_0_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58d3b64ba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58d3b64bad_0_1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58d3b64bad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58d3b64ba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58d3b64bad_0_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8d3b64bad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58d3b64ba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g358d3b64bad_0_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58d3b64bad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58d3b64ba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358d3b64bad_0_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58d3b64bad_0_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g358d3b64ba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58d3b64bad_0_1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58d3b64bad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g358d3b64ba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g358d3b64bad_0_1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58d3b64bad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58d3b64ba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g358d3b64bad_0_1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58d3b64bad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58d3b64ba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58d3b64bad_0_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8d3b64bad_0_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58d3b64bad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g358d3b64bad_0_2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58d3b64bad_0_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358d3b64ba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g358d3b64bad_0_1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58d3b64bad_0_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58d3b64bad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358d3b64bad_0_2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8d3b64bad_0_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58d3b64ba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g358d3b64bad_0_2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58d3b64bad_0_2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58d3b64ba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" name="Google Shape;547;g358d3b64bad_0_2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8d3b64bad_0_2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58d3b64bad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g358d3b64bad_0_2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58d3b64bad_0_2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g358d3b64bad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g358d3b64bad_0_2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58d3b64bad_0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58d3b64ba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g358d3b64bad_0_2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58d3b64bad_0_2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358d3b64bad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g358d3b64bad_0_2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58d3b64bad_0_2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1" name="Google Shape;591;g358d3b64bad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g358d3b64bad_0_2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58d3b64bad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g358d3b64bad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g358d3b64bad_0_3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58d3b64bad_0_2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g358d3b64bad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g358d3b64bad_0_2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58d3b64bad_0_3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58d3b64bad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58d3b64bad_0_3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ctrTitle"/>
          </p:nvPr>
        </p:nvSpPr>
        <p:spPr>
          <a:xfrm>
            <a:off x="1219200" y="1349224"/>
            <a:ext cx="6858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6"/>
          <p:cNvSpPr/>
          <p:nvPr/>
        </p:nvSpPr>
        <p:spPr>
          <a:xfrm>
            <a:off x="904875" y="1105713"/>
            <a:ext cx="7315200" cy="145800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36"/>
          <p:cNvSpPr/>
          <p:nvPr/>
        </p:nvSpPr>
        <p:spPr>
          <a:xfrm>
            <a:off x="904875" y="1105713"/>
            <a:ext cx="228600" cy="14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" name="Google Shape;24;p36"/>
          <p:cNvSpPr txBox="1"/>
          <p:nvPr>
            <p:ph idx="11" type="ftr"/>
          </p:nvPr>
        </p:nvSpPr>
        <p:spPr>
          <a:xfrm>
            <a:off x="1840089" y="4766310"/>
            <a:ext cx="63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2" type="sldNum"/>
          </p:nvPr>
        </p:nvSpPr>
        <p:spPr>
          <a:xfrm>
            <a:off x="1216152" y="4766310"/>
            <a:ext cx="121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09" y="133528"/>
            <a:ext cx="1835834" cy="65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7"/>
          <p:cNvSpPr txBox="1"/>
          <p:nvPr>
            <p:ph idx="11" type="ftr"/>
          </p:nvPr>
        </p:nvSpPr>
        <p:spPr>
          <a:xfrm>
            <a:off x="612649" y="4767263"/>
            <a:ext cx="7467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type="title"/>
          </p:nvPr>
        </p:nvSpPr>
        <p:spPr>
          <a:xfrm>
            <a:off x="1219200" y="2228850"/>
            <a:ext cx="6858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8"/>
          <p:cNvSpPr txBox="1"/>
          <p:nvPr>
            <p:ph idx="1" type="body"/>
          </p:nvPr>
        </p:nvSpPr>
        <p:spPr>
          <a:xfrm>
            <a:off x="1295400" y="3200400"/>
            <a:ext cx="6781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5" name="Google Shape;35;p38"/>
          <p:cNvSpPr txBox="1"/>
          <p:nvPr>
            <p:ph idx="10" type="dt"/>
          </p:nvPr>
        </p:nvSpPr>
        <p:spPr>
          <a:xfrm>
            <a:off x="6400800" y="476631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8"/>
          <p:cNvSpPr txBox="1"/>
          <p:nvPr>
            <p:ph idx="11" type="ftr"/>
          </p:nvPr>
        </p:nvSpPr>
        <p:spPr>
          <a:xfrm>
            <a:off x="2898648" y="4766310"/>
            <a:ext cx="347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2" type="sldNum"/>
          </p:nvPr>
        </p:nvSpPr>
        <p:spPr>
          <a:xfrm>
            <a:off x="1069848" y="4766310"/>
            <a:ext cx="152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38"/>
          <p:cNvSpPr/>
          <p:nvPr/>
        </p:nvSpPr>
        <p:spPr>
          <a:xfrm>
            <a:off x="914400" y="2114550"/>
            <a:ext cx="7315200" cy="96000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" name="Google Shape;39;p38"/>
          <p:cNvSpPr/>
          <p:nvPr/>
        </p:nvSpPr>
        <p:spPr>
          <a:xfrm>
            <a:off x="914400" y="2114550"/>
            <a:ext cx="228600" cy="9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9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9"/>
          <p:cNvSpPr txBox="1"/>
          <p:nvPr>
            <p:ph idx="1" type="body"/>
          </p:nvPr>
        </p:nvSpPr>
        <p:spPr>
          <a:xfrm>
            <a:off x="457200" y="914400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2" type="body"/>
          </p:nvPr>
        </p:nvSpPr>
        <p:spPr>
          <a:xfrm>
            <a:off x="4632198" y="912114"/>
            <a:ext cx="4041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457200" y="964406"/>
            <a:ext cx="4040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4648200" y="971550"/>
            <a:ext cx="4041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40"/>
          <p:cNvSpPr txBox="1"/>
          <p:nvPr>
            <p:ph idx="3" type="body"/>
          </p:nvPr>
        </p:nvSpPr>
        <p:spPr>
          <a:xfrm>
            <a:off x="457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4" type="body"/>
          </p:nvPr>
        </p:nvSpPr>
        <p:spPr>
          <a:xfrm>
            <a:off x="4648200" y="1600200"/>
            <a:ext cx="40386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1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41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42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7" name="Google Shape;67;p42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3"/>
          <p:cNvSpPr txBox="1"/>
          <p:nvPr>
            <p:ph type="title"/>
          </p:nvPr>
        </p:nvSpPr>
        <p:spPr>
          <a:xfrm>
            <a:off x="6324600" y="228600"/>
            <a:ext cx="2514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3"/>
          <p:cNvSpPr txBox="1"/>
          <p:nvPr>
            <p:ph idx="1" type="body"/>
          </p:nvPr>
        </p:nvSpPr>
        <p:spPr>
          <a:xfrm>
            <a:off x="6324600" y="914400"/>
            <a:ext cx="2514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1" name="Google Shape;71;p43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3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43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5" name="Google Shape;75;p43"/>
          <p:cNvCxnSpPr/>
          <p:nvPr/>
        </p:nvCxnSpPr>
        <p:spPr>
          <a:xfrm rot="5400000">
            <a:off x="3914965" y="2493229"/>
            <a:ext cx="452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6" name="Google Shape;76;p43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43"/>
          <p:cNvSpPr txBox="1"/>
          <p:nvPr>
            <p:ph idx="2" type="body"/>
          </p:nvPr>
        </p:nvSpPr>
        <p:spPr>
          <a:xfrm>
            <a:off x="304800" y="228600"/>
            <a:ext cx="5715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solidFill>
          <a:schemeClr val="dk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>
            <a:off x="457200" y="375642"/>
            <a:ext cx="8229600" cy="5061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/>
          <p:nvPr>
            <p:ph idx="2" type="pic"/>
          </p:nvPr>
        </p:nvSpPr>
        <p:spPr>
          <a:xfrm>
            <a:off x="457200" y="1428750"/>
            <a:ext cx="8229600" cy="3202800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81" name="Google Shape;81;p44"/>
          <p:cNvSpPr txBox="1"/>
          <p:nvPr>
            <p:ph idx="1" type="body"/>
          </p:nvPr>
        </p:nvSpPr>
        <p:spPr>
          <a:xfrm>
            <a:off x="457200" y="914400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5" name="Google Shape;85;p44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6" name="Google Shape;86;p44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457200" y="375642"/>
            <a:ext cx="183000" cy="5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5"/>
          <p:cNvSpPr txBox="1"/>
          <p:nvPr>
            <p:ph idx="1" type="body"/>
          </p:nvPr>
        </p:nvSpPr>
        <p:spPr>
          <a:xfrm rot="5400000">
            <a:off x="2730600" y="-1359000"/>
            <a:ext cx="36828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1" name="Google Shape;91;p45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6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6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7" name="Google Shape;97;p46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6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0" name="Google Shape;100;p46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" name="Google Shape;101;p46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2" name="Google Shape;102;p46"/>
          <p:cNvCxnSpPr/>
          <p:nvPr/>
        </p:nvCxnSpPr>
        <p:spPr>
          <a:xfrm rot="5400000">
            <a:off x="4361187" y="2401404"/>
            <a:ext cx="43890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  <a:defRPr b="0" i="0" sz="36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457200" y="914400"/>
            <a:ext cx="8229600" cy="3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3032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38CD5"/>
              </a:buClr>
              <a:buSzPts val="2432"/>
              <a:buFont typeface="Noto Sans Symbols"/>
              <a:buChar char="🞂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63728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2128"/>
              <a:buFont typeface="Noto Sans Symbols"/>
              <a:buChar char="🞂"/>
              <a:defRPr b="0" i="0" sz="2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38CD5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38CD5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38CD5"/>
              </a:buClr>
              <a:buSzPts val="1400"/>
              <a:buFont typeface="Noto Sans Symbols"/>
              <a:buChar char="◻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6400800" y="4767263"/>
            <a:ext cx="228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2898648" y="4767263"/>
            <a:ext cx="350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35"/>
          <p:cNvCxnSpPr/>
          <p:nvPr/>
        </p:nvCxnSpPr>
        <p:spPr>
          <a:xfrm>
            <a:off x="457200" y="4764881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538CD5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35"/>
          <p:cNvCxnSpPr/>
          <p:nvPr/>
        </p:nvCxnSpPr>
        <p:spPr>
          <a:xfrm>
            <a:off x="457200" y="85725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538CD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35"/>
          <p:cNvSpPr/>
          <p:nvPr/>
        </p:nvSpPr>
        <p:spPr>
          <a:xfrm rot="5400000">
            <a:off x="442981" y="4835556"/>
            <a:ext cx="143100" cy="120300"/>
          </a:xfrm>
          <a:prstGeom prst="triangle">
            <a:avLst>
              <a:gd fmla="val 50000" name="adj"/>
            </a:avLst>
          </a:prstGeom>
          <a:solidFill>
            <a:srgbClr val="538CD5"/>
          </a:solidFill>
          <a:ln cap="rnd" cmpd="sng" w="25400">
            <a:solidFill>
              <a:srgbClr val="538C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logomarca_color.jpg" id="18" name="Google Shape;18;p35"/>
          <p:cNvPicPr preferRelativeResize="0"/>
          <p:nvPr/>
        </p:nvPicPr>
        <p:blipFill rotWithShape="1">
          <a:blip r:embed="rId1">
            <a:alphaModFix/>
          </a:blip>
          <a:srcRect b="0" l="86141" r="0" t="0"/>
          <a:stretch/>
        </p:blipFill>
        <p:spPr>
          <a:xfrm>
            <a:off x="8073321" y="4513811"/>
            <a:ext cx="613480" cy="629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5"/>
          <p:cNvSpPr/>
          <p:nvPr/>
        </p:nvSpPr>
        <p:spPr>
          <a:xfrm>
            <a:off x="446572" y="112511"/>
            <a:ext cx="228600" cy="801900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mozart.siqueira@unilasalle.edu.br" TargetMode="External"/><Relationship Id="rId4" Type="http://schemas.openxmlformats.org/officeDocument/2006/relationships/hyperlink" Target="mailto:wendel.silva@unilasalle.edu.br" TargetMode="External"/><Relationship Id="rId5" Type="http://schemas.openxmlformats.org/officeDocument/2006/relationships/hyperlink" Target="mailto:wendel.silva@unilasalle.edu.b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Relationship Id="rId7" Type="http://schemas.openxmlformats.org/officeDocument/2006/relationships/image" Target="../media/image19.png"/><Relationship Id="rId8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jp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Relationship Id="rId4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219200" y="1349224"/>
            <a:ext cx="69597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Bookman Old Style"/>
              <a:buNone/>
            </a:pPr>
            <a:r>
              <a:rPr lang="en-US" sz="2640">
                <a:latin typeface="Montserrat"/>
                <a:ea typeface="Montserrat"/>
                <a:cs typeface="Montserrat"/>
                <a:sym typeface="Montserrat"/>
              </a:rPr>
              <a:t>Fundamentos da Computação</a:t>
            </a:r>
            <a:br>
              <a:rPr lang="en-US" sz="264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640">
                <a:latin typeface="Montserrat"/>
                <a:ea typeface="Montserrat"/>
                <a:cs typeface="Montserrat"/>
                <a:sym typeface="Montserrat"/>
              </a:rPr>
              <a:t>Expressões Booleanas </a:t>
            </a:r>
            <a:endParaRPr sz="26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Bookman Old Style"/>
              <a:buNone/>
            </a:pPr>
            <a:r>
              <a:rPr lang="en-US" sz="2640">
                <a:latin typeface="Montserrat"/>
                <a:ea typeface="Montserrat"/>
                <a:cs typeface="Montserrat"/>
                <a:sym typeface="Montserrat"/>
              </a:rPr>
              <a:t>e Tabela Verdade</a:t>
            </a:r>
            <a:endParaRPr sz="228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2604001" y="3621300"/>
            <a:ext cx="5574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Material produzido por </a:t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 Mozart Siqueira e Wendel</a:t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3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mozart.siqueira@unilasalle.edu.br</a:t>
            </a:r>
            <a:endParaRPr b="0" i="0" sz="13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3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wendel.silva</a:t>
            </a:r>
            <a:r>
              <a:rPr lang="en-US" sz="13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@unilasalle.edu.br</a:t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2604001" y="2677400"/>
            <a:ext cx="5574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Professor Wendel Tadeu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Objetivos da aula</a:t>
            </a:r>
            <a:endParaRPr/>
          </a:p>
        </p:txBody>
      </p:sp>
      <p:sp>
        <p:nvSpPr>
          <p:cNvPr id="115" name="Google Shape;115;p2"/>
          <p:cNvSpPr txBox="1"/>
          <p:nvPr>
            <p:ph idx="1" type="body"/>
          </p:nvPr>
        </p:nvSpPr>
        <p:spPr>
          <a:xfrm>
            <a:off x="190500" y="914400"/>
            <a:ext cx="82944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432"/>
              <a:buFont typeface="Arial"/>
              <a:buChar char="●"/>
            </a:pPr>
            <a:r>
              <a:rPr lang="en-US"/>
              <a:t>Revisão Lógica Booleana</a:t>
            </a:r>
            <a:endParaRPr/>
          </a:p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Char char="●"/>
            </a:pPr>
            <a:r>
              <a:rPr lang="en-US"/>
              <a:t>Exercícios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97898">
            <a:off x="5074616" y="1656620"/>
            <a:ext cx="3071391" cy="230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</a:t>
            </a:r>
            <a:endParaRPr/>
          </a:p>
        </p:txBody>
      </p:sp>
      <p:sp>
        <p:nvSpPr>
          <p:cNvPr id="124" name="Google Shape;124;p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Tabela Verdade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Utilizada para definir uma função.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Apresenta todas as combinações possíveis de entradas das variáveis.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2</a:t>
            </a:r>
            <a:r>
              <a:rPr b="1" baseline="30000" i="1" lang="en-US">
                <a:solidFill>
                  <a:srgbClr val="0000FF"/>
                </a:solidFill>
              </a:rPr>
              <a:t>n</a:t>
            </a:r>
            <a:r>
              <a:rPr lang="en-US"/>
              <a:t> linhas.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i="1" lang="en-US">
                <a:solidFill>
                  <a:srgbClr val="0000FF"/>
                </a:solidFill>
              </a:rPr>
              <a:t>n</a:t>
            </a:r>
            <a:r>
              <a:rPr lang="en-US"/>
              <a:t> é o número de variáveis da função, tipicamente 2.</a:t>
            </a:r>
            <a:endParaRPr i="1"/>
          </a:p>
          <a:p>
            <a:pPr indent="-139190" lvl="1" marL="54864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aseline="30000"/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750" y="114312"/>
            <a:ext cx="1027376" cy="37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 Booleana e Lógica Digital</a:t>
            </a:r>
            <a:endParaRPr/>
          </a:p>
        </p:txBody>
      </p:sp>
      <p:sp>
        <p:nvSpPr>
          <p:cNvPr id="132" name="Google Shape;132;p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914400"/>
            <a:ext cx="82296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?"/>
            </a:pPr>
            <a:r>
              <a:rPr lang="en-US" sz="1800"/>
              <a:t>TABELA VERDADE</a:t>
            </a:r>
            <a:endParaRPr sz="1800"/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lang="en-US" sz="1800"/>
              <a:t>Tabelas que representam todas as possíveis combinações das variáveis de entrada de uma função, e os seus respectivos valores de saída.</a:t>
            </a:r>
            <a:endParaRPr sz="1800">
              <a:solidFill>
                <a:srgbClr val="1F497D"/>
              </a:solidFill>
            </a:endParaRPr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lang="en-US" sz="1800"/>
              <a:t>A seguir, apresenta-se as funções básicas, e suas representações em tabelas verdade.</a:t>
            </a:r>
            <a:endParaRPr sz="1800"/>
          </a:p>
          <a:p>
            <a:pPr indent="-29403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1800"/>
              <a:buChar char="?"/>
            </a:pPr>
            <a:r>
              <a:rPr b="1" lang="en-US" sz="1800"/>
              <a:t>AND - FUNÇÃO E</a:t>
            </a:r>
            <a:r>
              <a:rPr lang="en-US" sz="1800"/>
              <a:t> (</a:t>
            </a:r>
            <a:r>
              <a:rPr lang="en-US" sz="1800">
                <a:highlight>
                  <a:srgbClr val="FFFF00"/>
                </a:highlight>
              </a:rPr>
              <a:t>A.B</a:t>
            </a:r>
            <a:r>
              <a:rPr lang="en-US" sz="1800"/>
              <a:t> ou </a:t>
            </a:r>
            <a:r>
              <a:rPr lang="en-US" sz="1800">
                <a:highlight>
                  <a:srgbClr val="FFFF00"/>
                </a:highlight>
              </a:rPr>
              <a:t>A^B</a:t>
            </a:r>
            <a:r>
              <a:rPr lang="en-US" sz="1800"/>
              <a:t>)</a:t>
            </a:r>
            <a:endParaRPr sz="1800"/>
          </a:p>
          <a:p>
            <a:pPr indent="0" lvl="0" marL="9144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rPr lang="en-US" sz="1800">
                <a:solidFill>
                  <a:schemeClr val="accent1"/>
                </a:solidFill>
              </a:rPr>
              <a:t>Tabela Verdade:</a:t>
            </a:r>
            <a:endParaRPr sz="1800">
              <a:solidFill>
                <a:schemeClr val="accent1"/>
              </a:solidFill>
            </a:endParaRPr>
          </a:p>
        </p:txBody>
      </p:sp>
      <p:graphicFrame>
        <p:nvGraphicFramePr>
          <p:cNvPr id="134" name="Google Shape;134;p9"/>
          <p:cNvGraphicFramePr/>
          <p:nvPr/>
        </p:nvGraphicFramePr>
        <p:xfrm>
          <a:off x="3495523" y="3014570"/>
          <a:ext cx="3000000" cy="3000000"/>
        </p:xfrm>
        <a:graphic>
          <a:graphicData uri="http://schemas.openxmlformats.org/drawingml/2006/table">
            <a:tbl>
              <a:tblPr bandRow="1" firstRow="1">
                <a:gradFill>
                  <a:gsLst>
                    <a:gs pos="0">
                      <a:srgbClr val="BACEF2"/>
                    </a:gs>
                    <a:gs pos="30000">
                      <a:srgbClr val="99B7EF"/>
                    </a:gs>
                    <a:gs pos="45000">
                      <a:srgbClr val="8EB2ED"/>
                    </a:gs>
                    <a:gs pos="55000">
                      <a:srgbClr val="8EB2ED"/>
                    </a:gs>
                    <a:gs pos="73000">
                      <a:srgbClr val="99B7EF"/>
                    </a:gs>
                    <a:gs pos="100000">
                      <a:srgbClr val="BACEF2"/>
                    </a:gs>
                  </a:gsLst>
                  <a:lin ang="950000" scaled="0"/>
                </a:gradFill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A.B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69750" y="914400"/>
            <a:ext cx="58236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7432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Portas Lógicas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Elemento básico de um hardware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Operam um ou mais sinais lógicos de entrada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SEMPRE produzem UMA saída</a:t>
            </a:r>
            <a:endParaRPr/>
          </a:p>
          <a:p>
            <a:pPr indent="-274320" lvl="1" marL="54864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Se relacionam com os conceitos de Álgebra Booleana</a:t>
            </a:r>
            <a:endParaRPr/>
          </a:p>
        </p:txBody>
      </p:sp>
      <p:pic>
        <p:nvPicPr>
          <p:cNvPr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0"/>
          <p:cNvGrpSpPr/>
          <p:nvPr/>
        </p:nvGrpSpPr>
        <p:grpSpPr>
          <a:xfrm>
            <a:off x="6200426" y="1070625"/>
            <a:ext cx="2934149" cy="2965269"/>
            <a:chOff x="6124226" y="1070625"/>
            <a:chExt cx="2934149" cy="2965269"/>
          </a:xfrm>
        </p:grpSpPr>
        <p:pic>
          <p:nvPicPr>
            <p:cNvPr id="145" name="Google Shape;14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43100" y="1070625"/>
              <a:ext cx="1318411" cy="64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97824" y="1771500"/>
              <a:ext cx="1334850" cy="70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532675" y="1771495"/>
              <a:ext cx="1525700" cy="643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24226" y="3314950"/>
              <a:ext cx="1482040" cy="704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75728" y="2571750"/>
              <a:ext cx="1382637" cy="643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197824" y="2533194"/>
              <a:ext cx="1334850" cy="66393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" name="Google Shape;151;p10"/>
            <p:cNvGrpSpPr/>
            <p:nvPr/>
          </p:nvGrpSpPr>
          <p:grpSpPr>
            <a:xfrm>
              <a:off x="7699637" y="3371990"/>
              <a:ext cx="1334831" cy="663904"/>
              <a:chOff x="5706348" y="3296443"/>
              <a:chExt cx="1730176" cy="822682"/>
            </a:xfrm>
          </p:grpSpPr>
          <p:pic>
            <p:nvPicPr>
              <p:cNvPr id="152" name="Google Shape;152;p1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706348" y="3296443"/>
                <a:ext cx="1730176" cy="82268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3" name="Google Shape;153;p10"/>
              <p:cNvSpPr/>
              <p:nvPr/>
            </p:nvSpPr>
            <p:spPr>
              <a:xfrm>
                <a:off x="6939376" y="3635332"/>
                <a:ext cx="156900" cy="160200"/>
              </a:xfrm>
              <a:prstGeom prst="ellipse">
                <a:avLst/>
              </a:prstGeom>
              <a:solidFill>
                <a:srgbClr val="CCCCCC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4" name="Google Shape;154;p10"/>
          <p:cNvSpPr txBox="1"/>
          <p:nvPr/>
        </p:nvSpPr>
        <p:spPr>
          <a:xfrm>
            <a:off x="6653975" y="191143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8038975" y="1911439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NAND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6653975" y="267343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8039782" y="2682157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  NOR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6742450" y="3510589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9" name="Google Shape;159;p10"/>
          <p:cNvSpPr txBox="1"/>
          <p:nvPr/>
        </p:nvSpPr>
        <p:spPr>
          <a:xfrm>
            <a:off x="8203650" y="3510589"/>
            <a:ext cx="72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XNOR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7267575" y="1009650"/>
            <a:ext cx="59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NOT</a:t>
            </a:r>
            <a:endParaRPr b="1" i="0" sz="1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66" name="Google Shape;166;p1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Porta Lógica NOT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Inverte o sinal de entrada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Realiza a negação ou complemento</a:t>
            </a:r>
            <a:endParaRPr/>
          </a:p>
          <a:p>
            <a:pPr indent="-274319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 = Ā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11"/>
          <p:cNvGraphicFramePr/>
          <p:nvPr/>
        </p:nvGraphicFramePr>
        <p:xfrm>
          <a:off x="3454400" y="3228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1117600"/>
                <a:gridCol w="11176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pic>
        <p:nvPicPr>
          <p:cNvPr id="169" name="Google Shape;1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6625" y="1387100"/>
            <a:ext cx="16383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76" name="Google Shape;176;p1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2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799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AND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E</a:t>
            </a:r>
            <a:r>
              <a:rPr lang="en-US"/>
              <a:t> lógico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1 caso os sinais de entrada sejam 1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caso qualquer sinal de entrada seja 0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p12"/>
          <p:cNvGraphicFramePr/>
          <p:nvPr/>
        </p:nvGraphicFramePr>
        <p:xfrm>
          <a:off x="2187448" y="3017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2"/>
          <p:cNvSpPr txBox="1"/>
          <p:nvPr/>
        </p:nvSpPr>
        <p:spPr>
          <a:xfrm>
            <a:off x="4826000" y="3017525"/>
            <a:ext cx="19812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A.B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4798" y="3802620"/>
            <a:ext cx="1409080" cy="74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87" name="Google Shape;187;p1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3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7990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OR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OU</a:t>
            </a:r>
            <a:r>
              <a:rPr lang="en-US"/>
              <a:t> lógico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1 caso qualquer entrada seja 1</a:t>
            </a:r>
            <a:endParaRPr/>
          </a:p>
          <a:p>
            <a:pPr indent="-23378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caso todos os sinais de entrada sejam 0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189" name="Google Shape;189;p13"/>
          <p:cNvGraphicFramePr/>
          <p:nvPr/>
        </p:nvGraphicFramePr>
        <p:xfrm>
          <a:off x="2403348" y="2996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3"/>
          <p:cNvSpPr txBox="1"/>
          <p:nvPr/>
        </p:nvSpPr>
        <p:spPr>
          <a:xfrm>
            <a:off x="5041900" y="2996575"/>
            <a:ext cx="21591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811" y="3682400"/>
            <a:ext cx="1819275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198" name="Google Shape;198;p1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4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1155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NAND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porta AND seguida de uma NOT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Sua saída é o INVERSO da saída de AND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00" name="Google Shape;200;p14"/>
          <p:cNvGraphicFramePr/>
          <p:nvPr/>
        </p:nvGraphicFramePr>
        <p:xfrm>
          <a:off x="2187448" y="2760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4"/>
          <p:cNvSpPr txBox="1"/>
          <p:nvPr/>
        </p:nvSpPr>
        <p:spPr>
          <a:xfrm>
            <a:off x="4826000" y="2760350"/>
            <a:ext cx="19563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A.B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4"/>
          <p:cNvCxnSpPr/>
          <p:nvPr/>
        </p:nvCxnSpPr>
        <p:spPr>
          <a:xfrm>
            <a:off x="5637762" y="2855595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3" name="Google Shape;2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5848" y="3734045"/>
            <a:ext cx="2076450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10" name="Google Shape;210;p1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5"/>
          <p:cNvSpPr txBox="1"/>
          <p:nvPr>
            <p:ph idx="1" type="body"/>
          </p:nvPr>
        </p:nvSpPr>
        <p:spPr>
          <a:xfrm>
            <a:off x="457200" y="790575"/>
            <a:ext cx="82296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1155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NOR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porta OR seguida de uma NOT</a:t>
            </a:r>
            <a:endParaRPr/>
          </a:p>
          <a:p>
            <a:pPr indent="-254050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Sua saída é o INVERSO da saída de OR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graphicFrame>
        <p:nvGraphicFramePr>
          <p:cNvPr id="212" name="Google Shape;212;p15"/>
          <p:cNvGraphicFramePr/>
          <p:nvPr/>
        </p:nvGraphicFramePr>
        <p:xfrm>
          <a:off x="2187448" y="27603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15"/>
          <p:cNvSpPr txBox="1"/>
          <p:nvPr/>
        </p:nvSpPr>
        <p:spPr>
          <a:xfrm>
            <a:off x="4826000" y="2760350"/>
            <a:ext cx="23574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15"/>
          <p:cNvCxnSpPr/>
          <p:nvPr/>
        </p:nvCxnSpPr>
        <p:spPr>
          <a:xfrm>
            <a:off x="5726662" y="2855595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5" name="Google Shape;2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1448" y="3615170"/>
            <a:ext cx="194310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22" name="Google Shape;222;p1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6"/>
          <p:cNvSpPr txBox="1"/>
          <p:nvPr>
            <p:ph idx="1" type="body"/>
          </p:nvPr>
        </p:nvSpPr>
        <p:spPr>
          <a:xfrm>
            <a:off x="457200" y="941525"/>
            <a:ext cx="8229600" cy="25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Char char="?"/>
            </a:pPr>
            <a:r>
              <a:rPr lang="en-US"/>
              <a:t>Porta Lógica XOR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Implementa a operação de </a:t>
            </a:r>
            <a:r>
              <a:rPr b="1" lang="en-US"/>
              <a:t>OU</a:t>
            </a:r>
            <a:r>
              <a:rPr lang="en-US"/>
              <a:t> exclusivo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Produz 1 quando apenas uma entrada é1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Produz 0 caso contrário</a:t>
            </a:r>
            <a:endParaRPr/>
          </a:p>
        </p:txBody>
      </p:sp>
      <p:graphicFrame>
        <p:nvGraphicFramePr>
          <p:cNvPr id="224" name="Google Shape;224;p16"/>
          <p:cNvGraphicFramePr/>
          <p:nvPr/>
        </p:nvGraphicFramePr>
        <p:xfrm>
          <a:off x="2327148" y="29965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16"/>
          <p:cNvSpPr txBox="1"/>
          <p:nvPr/>
        </p:nvSpPr>
        <p:spPr>
          <a:xfrm>
            <a:off x="5000571" y="2937811"/>
            <a:ext cx="20718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0573" y="3682411"/>
            <a:ext cx="19431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34" name="Google Shape;234;p1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457200" y="1057250"/>
            <a:ext cx="6403800" cy="3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527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2"/>
              <a:buChar char="?"/>
            </a:pPr>
            <a:r>
              <a:rPr lang="en-US" sz="2900"/>
              <a:t>Porta Lógica XOR</a:t>
            </a:r>
            <a:endParaRPr sz="29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Utilizada principalmente para comparação</a:t>
            </a:r>
            <a:br>
              <a:rPr lang="en-US" sz="2500"/>
            </a:br>
            <a:r>
              <a:rPr lang="en-US" sz="2500"/>
              <a:t>entre bits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Produz 0 quando todos os bits são iguais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Produz 1 quando pelo menos um dos bits se difere dos demais</a:t>
            </a:r>
            <a:endParaRPr sz="2500"/>
          </a:p>
          <a:p>
            <a:pPr indent="-255269" lvl="1" marL="548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8"/>
              <a:buChar char="?"/>
            </a:pPr>
            <a:r>
              <a:rPr lang="en-US" sz="2500"/>
              <a:t>Muito utilizada em criptografia</a:t>
            </a:r>
            <a:endParaRPr sz="2500"/>
          </a:p>
        </p:txBody>
      </p:sp>
      <p:pic>
        <p:nvPicPr>
          <p:cNvPr id="236" name="Google Shape;2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3225" y="1240326"/>
            <a:ext cx="1935575" cy="92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Álgebra Booleana e Lógica Digital</a:t>
            </a:r>
            <a:endParaRPr/>
          </a:p>
        </p:txBody>
      </p:sp>
      <p:sp>
        <p:nvSpPr>
          <p:cNvPr id="243" name="Google Shape;243;p1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457200" y="876300"/>
            <a:ext cx="8229600" cy="15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62737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Porta Lógica XNOR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Implementa a operação de </a:t>
            </a:r>
            <a:r>
              <a:rPr b="1" lang="en-US"/>
              <a:t>XOR </a:t>
            </a:r>
            <a:r>
              <a:rPr lang="en-US"/>
              <a:t>seguida de </a:t>
            </a:r>
            <a:r>
              <a:rPr b="1" lang="en-US"/>
              <a:t>NOT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0 quando apenas uma entrada é 1</a:t>
            </a:r>
            <a:endParaRPr/>
          </a:p>
          <a:p>
            <a:pPr indent="-264185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Produz q caso contrário</a:t>
            </a:r>
            <a:endParaRPr/>
          </a:p>
        </p:txBody>
      </p:sp>
      <p:graphicFrame>
        <p:nvGraphicFramePr>
          <p:cNvPr id="245" name="Google Shape;245;p18"/>
          <p:cNvGraphicFramePr/>
          <p:nvPr/>
        </p:nvGraphicFramePr>
        <p:xfrm>
          <a:off x="2403348" y="24045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{D572C512-7C56-4B2D-8592-3DD3558D2ACE}</a:tableStyleId>
              </a:tblPr>
              <a:tblGrid>
                <a:gridCol w="745075"/>
                <a:gridCol w="745075"/>
                <a:gridCol w="7450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X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18"/>
          <p:cNvSpPr txBox="1"/>
          <p:nvPr/>
        </p:nvSpPr>
        <p:spPr>
          <a:xfrm>
            <a:off x="5007029" y="2352218"/>
            <a:ext cx="2235300" cy="5850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X = A+B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6134100" y="253500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48" name="Google Shape;248;p18"/>
          <p:cNvCxnSpPr/>
          <p:nvPr/>
        </p:nvCxnSpPr>
        <p:spPr>
          <a:xfrm>
            <a:off x="5929862" y="2506433"/>
            <a:ext cx="585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8"/>
          <p:cNvSpPr txBox="1"/>
          <p:nvPr/>
        </p:nvSpPr>
        <p:spPr>
          <a:xfrm>
            <a:off x="528600" y="4064700"/>
            <a:ext cx="82296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505" lvl="0" marL="27432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1073"/>
              <a:buFont typeface="Noto Sans Symbols"/>
              <a:buChar char="🞂"/>
            </a:pPr>
            <a:r>
              <a:rPr b="0" i="0" lang="en-US" sz="138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porta XOR é usada principalmente para comparar bits</a:t>
            </a:r>
            <a:endParaRPr b="0" i="0" sz="138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040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951"/>
              <a:buFont typeface="Noto Sans Symbols"/>
              <a:buChar char="🞂"/>
            </a:pPr>
            <a:r>
              <a:rPr b="0" i="0" lang="en-US" sz="122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produz saída 0 quando todos os bits de entrada são iguais e</a:t>
            </a:r>
            <a:endParaRPr b="0" i="0" sz="6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400" lvl="1" marL="54864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558ED5"/>
              </a:buClr>
              <a:buSzPts val="951"/>
              <a:buFont typeface="Noto Sans Symbols"/>
              <a:buChar char="🞂"/>
            </a:pPr>
            <a:r>
              <a:rPr b="0" i="0" lang="en-US" sz="122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rPr>
              <a:t>produz saída 1 quando pelo menos um dos bits de entrada é diferente dos demais </a:t>
            </a:r>
            <a:endParaRPr b="0" i="0" sz="1220" u="none" cap="none" strike="noStrike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18"/>
          <p:cNvGrpSpPr/>
          <p:nvPr/>
        </p:nvGrpSpPr>
        <p:grpSpPr>
          <a:xfrm>
            <a:off x="5706348" y="3296443"/>
            <a:ext cx="1730176" cy="822682"/>
            <a:chOff x="5706348" y="3296443"/>
            <a:chExt cx="1730176" cy="822682"/>
          </a:xfrm>
        </p:grpSpPr>
        <p:pic>
          <p:nvPicPr>
            <p:cNvPr id="252" name="Google Shape;25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06348" y="3296443"/>
              <a:ext cx="1730176" cy="8226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8"/>
            <p:cNvSpPr/>
            <p:nvPr/>
          </p:nvSpPr>
          <p:spPr>
            <a:xfrm>
              <a:off x="6939376" y="3635332"/>
              <a:ext cx="156900" cy="160200"/>
            </a:xfrm>
            <a:prstGeom prst="ellipse">
              <a:avLst/>
            </a:prstGeom>
            <a:solidFill>
              <a:srgbClr val="CC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 ou Função Booleana</a:t>
            </a:r>
            <a:endParaRPr/>
          </a:p>
        </p:txBody>
      </p:sp>
      <p:sp>
        <p:nvSpPr>
          <p:cNvPr id="259" name="Google Shape;259;p2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457200" y="912900"/>
            <a:ext cx="79815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68"/>
              <a:buNone/>
            </a:pPr>
            <a:r>
              <a:rPr lang="en-US" sz="2040"/>
              <a:t>Uma</a:t>
            </a:r>
            <a:r>
              <a:rPr b="1" lang="en-US" sz="2040"/>
              <a:t> expressão ou função lógica</a:t>
            </a:r>
            <a:r>
              <a:rPr lang="en-US" sz="2040"/>
              <a:t> pode ser definida como uma expressão algébrica formada por variáveis lógicas (binárias), por símbolos representativos de uma operação lógica (+, . , etc), por parâmetros (as vezes) e por um sinal de igualdade. </a:t>
            </a:r>
            <a:endParaRPr sz="2040"/>
          </a:p>
          <a:p>
            <a:pPr indent="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</a:pPr>
            <a:r>
              <a:rPr lang="en-US" sz="1760"/>
              <a:t>Exemplo</a:t>
            </a:r>
            <a:endParaRPr sz="1760"/>
          </a:p>
        </p:txBody>
      </p:sp>
      <p:pic>
        <p:nvPicPr>
          <p:cNvPr descr="Diagrama&#10;&#10;Descrição gerada automaticamente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400" y="2496840"/>
            <a:ext cx="5142150" cy="2127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 ou Função Booleana</a:t>
            </a:r>
            <a:endParaRPr/>
          </a:p>
        </p:txBody>
      </p:sp>
      <p:sp>
        <p:nvSpPr>
          <p:cNvPr id="268" name="Google Shape;268;p2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457200" y="723900"/>
            <a:ext cx="82296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216408" lvl="0" marL="2743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Expressão ou Função Booleana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Descreve uma função ou operação a ser realizada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A partir de uma tabela verdade, podemos obter uma soma de produtos para implementar o circuito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b="1" lang="en-US"/>
              <a:t>Produto:</a:t>
            </a:r>
            <a:r>
              <a:rPr lang="en-US"/>
              <a:t> porta lógica AND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b="1" lang="en-US"/>
              <a:t>Soma:</a:t>
            </a:r>
            <a:r>
              <a:rPr lang="en-US"/>
              <a:t> porta lógica OR</a:t>
            </a:r>
            <a:endParaRPr/>
          </a:p>
          <a:p>
            <a:pPr indent="-223646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Nomes para facilitar a discussão</a:t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  <a:p>
            <a:pPr indent="-139191" lvl="1" marL="54864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6134100" y="3127058"/>
            <a:ext cx="203100" cy="203700"/>
          </a:xfrm>
          <a:prstGeom prst="ellipse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Expressão ou Função Booleana</a:t>
            </a:r>
            <a:endParaRPr/>
          </a:p>
        </p:txBody>
      </p:sp>
      <p:sp>
        <p:nvSpPr>
          <p:cNvPr id="277" name="Google Shape;277;p2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20200" y="4196550"/>
            <a:ext cx="82296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/>
          </a:bodyPr>
          <a:lstStyle/>
          <a:p>
            <a:pPr indent="-251155" lvl="0" marL="27432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/>
              <a:t>A prioridade de cálculo de uma operação AND é maior do que a do cálculo de uma operação OR.</a:t>
            </a:r>
            <a:endParaRPr/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3400" y="1107150"/>
            <a:ext cx="5841100" cy="300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a imagem contendo Tabela&#10;&#10;Descrição gerada automaticamente" id="280" name="Google Shape;2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0600" y="995408"/>
            <a:ext cx="1981200" cy="3063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Resumo – Portas Lógicas</a:t>
            </a:r>
            <a:endParaRPr/>
          </a:p>
        </p:txBody>
      </p:sp>
      <p:sp>
        <p:nvSpPr>
          <p:cNvPr id="288" name="Google Shape;288;p3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9" name="Google Shape;2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4" cy="371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0" name="Google Shape;290;p33"/>
          <p:cNvGraphicFramePr/>
          <p:nvPr/>
        </p:nvGraphicFramePr>
        <p:xfrm>
          <a:off x="9525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{9119FEA5-200E-40DB-8F35-CA4A21CFD9FE}</a:tableStyleId>
              </a:tblPr>
              <a:tblGrid>
                <a:gridCol w="1621125"/>
                <a:gridCol w="1621125"/>
                <a:gridCol w="1621125"/>
              </a:tblGrid>
              <a:tr h="645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PORTA</a:t>
                      </a:r>
                      <a:endParaRPr b="1"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LÓGICA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SÍMBOLO</a:t>
                      </a:r>
                      <a:endParaRPr b="1" sz="12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MATEMÁTICO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SÍMBOLO GRÁFICO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AND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. (C = A . 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+"/>
                      </a:pPr>
                      <a:r>
                        <a:rPr lang="en-US" sz="1400" u="none" cap="none" strike="noStrike"/>
                        <a:t>(C = A+B)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NOT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' (C = A')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NAND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D= (A . B)'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NOR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 = (A + B)'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4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-US" sz="1400" u="none" cap="none" strike="noStrike"/>
                        <a:t>XOR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       (C = A      B)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91" name="Google Shape;29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975" y="4338165"/>
            <a:ext cx="174450" cy="17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7068" y="4338165"/>
            <a:ext cx="174450" cy="174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3" name="Google Shape;293;p33"/>
          <p:cNvGrpSpPr/>
          <p:nvPr/>
        </p:nvGrpSpPr>
        <p:grpSpPr>
          <a:xfrm>
            <a:off x="4554564" y="1920303"/>
            <a:ext cx="901322" cy="2745968"/>
            <a:chOff x="4554564" y="1920303"/>
            <a:chExt cx="901322" cy="2745968"/>
          </a:xfrm>
        </p:grpSpPr>
        <p:pic>
          <p:nvPicPr>
            <p:cNvPr id="294" name="Google Shape;294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54564" y="4254271"/>
              <a:ext cx="866450" cy="41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89436" y="3778012"/>
              <a:ext cx="866450" cy="4034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55992" y="3342904"/>
              <a:ext cx="866450" cy="365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3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86747" y="2388913"/>
              <a:ext cx="735199" cy="365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3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65544" y="2870324"/>
              <a:ext cx="748771" cy="365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73586" y="1920303"/>
              <a:ext cx="780423" cy="41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305" name="Google Shape;305;g358bef7609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58bef76091_0_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307" name="Google Shape;307;g358bef76091_0_0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</a:t>
            </a:r>
            <a:endParaRPr/>
          </a:p>
        </p:txBody>
      </p:sp>
      <p:sp>
        <p:nvSpPr>
          <p:cNvPr id="308" name="Google Shape;308;g358bef76091_0_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9" name="Google Shape;309;g358bef7609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58bef76091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475" y="1572288"/>
            <a:ext cx="4307550" cy="248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358bef7609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58bef76091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8966" y="3277019"/>
            <a:ext cx="1498333" cy="119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318" name="Google Shape;318;g358d3b64ba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58d3b64bad_0_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320" name="Google Shape;320;g358d3b64bad_0_0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</a:t>
            </a:r>
            <a:endParaRPr/>
          </a:p>
        </p:txBody>
      </p:sp>
      <p:sp>
        <p:nvSpPr>
          <p:cNvPr id="321" name="Google Shape;321;g358d3b64bad_0_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22" name="Google Shape;322;g358d3b64ba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58d3b64ba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779" y="1813500"/>
            <a:ext cx="5219750" cy="252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58d3b64bad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g358d3b64bad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8966" y="3277019"/>
            <a:ext cx="1498333" cy="1198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331" name="Google Shape;331;g358d3b64bad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58d3b64bad_0_1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333" name="Google Shape;333;g358d3b64bad_0_11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</a:t>
            </a:r>
            <a:endParaRPr/>
          </a:p>
        </p:txBody>
      </p:sp>
      <p:sp>
        <p:nvSpPr>
          <p:cNvPr id="334" name="Google Shape;334;g358d3b64bad_0_1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5" name="Google Shape;335;g358d3b64bad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58d3b64bad_0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650" y="1647132"/>
            <a:ext cx="5105975" cy="261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58d3b64bad_0_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g358d3b64bad_0_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0604" y="2507132"/>
            <a:ext cx="1498333" cy="119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58d3b64bad_0_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1650" y="3797375"/>
            <a:ext cx="1296200" cy="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345" name="Google Shape;345;g358d3b64bad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58d3b64bad_0_3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347" name="Google Shape;347;g358d3b64bad_0_30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</a:t>
            </a:r>
            <a:endParaRPr/>
          </a:p>
        </p:txBody>
      </p:sp>
      <p:sp>
        <p:nvSpPr>
          <p:cNvPr id="348" name="Google Shape;348;g358d3b64bad_0_3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9" name="Google Shape;349;g358d3b64bad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g358d3b64bad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456" y="1522413"/>
            <a:ext cx="4930950" cy="248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58d3b64bad_0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58d3b64bad_0_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0604" y="2507132"/>
            <a:ext cx="1498333" cy="119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g358d3b64bad_0_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1650" y="3797375"/>
            <a:ext cx="1296200" cy="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359" name="Google Shape;359;g358d3b64bad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58d3b64bad_0_4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361" name="Google Shape;361;g358d3b64bad_0_43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</a:t>
            </a:r>
            <a:endParaRPr/>
          </a:p>
        </p:txBody>
      </p:sp>
      <p:sp>
        <p:nvSpPr>
          <p:cNvPr id="362" name="Google Shape;362;g358d3b64bad_0_4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3" name="Google Shape;363;g358d3b64bad_0_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58d3b64bad_0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775" y="1620825"/>
            <a:ext cx="7233825" cy="221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58d3b64bad_0_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g358d3b64bad_0_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0604" y="2507132"/>
            <a:ext cx="1498333" cy="119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58d3b64bad_0_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31650" y="3797375"/>
            <a:ext cx="1296200" cy="6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8d3b64bad_0_6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</a:t>
            </a:r>
            <a:r>
              <a:rPr lang="en-US"/>
              <a:t> - Tabela Verdade</a:t>
            </a:r>
            <a:endParaRPr/>
          </a:p>
        </p:txBody>
      </p:sp>
      <p:sp>
        <p:nvSpPr>
          <p:cNvPr id="374" name="Google Shape;374;g358d3b64bad_0_6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5" name="Google Shape;375;g358d3b64bad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58d3b64bad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6650" y="1641575"/>
            <a:ext cx="519112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58d3b64bad_0_9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Tabela Verdade</a:t>
            </a:r>
            <a:endParaRPr/>
          </a:p>
        </p:txBody>
      </p:sp>
      <p:sp>
        <p:nvSpPr>
          <p:cNvPr id="383" name="Google Shape;383;g358d3b64bad_0_9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4" name="Google Shape;384;g358d3b64bad_0_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g358d3b64bad_0_93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Utilizada para definir uma função.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Apresenta todas as combinações possíveis de entradas das variáveis.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lang="en-US"/>
              <a:t>2</a:t>
            </a:r>
            <a:r>
              <a:rPr b="1" baseline="30000" i="1" lang="en-US">
                <a:solidFill>
                  <a:srgbClr val="0000FF"/>
                </a:solidFill>
              </a:rPr>
              <a:t>n</a:t>
            </a:r>
            <a:r>
              <a:rPr lang="en-US"/>
              <a:t> linhas.</a:t>
            </a:r>
            <a:endParaRPr/>
          </a:p>
          <a:p>
            <a:pPr indent="-2743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128"/>
              <a:buChar char="?"/>
            </a:pPr>
            <a:r>
              <a:rPr i="1" lang="en-US">
                <a:solidFill>
                  <a:srgbClr val="0000FF"/>
                </a:solidFill>
              </a:rPr>
              <a:t>n</a:t>
            </a:r>
            <a:r>
              <a:rPr lang="en-US"/>
              <a:t> é o número de variáveis da função, tipicamente 2.</a:t>
            </a:r>
            <a:endParaRPr i="1"/>
          </a:p>
          <a:p>
            <a:pPr indent="-139190" lvl="1" marL="54864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aseline="30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8d3b64bad_0_10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Tabela Verdade</a:t>
            </a:r>
            <a:endParaRPr/>
          </a:p>
        </p:txBody>
      </p:sp>
      <p:sp>
        <p:nvSpPr>
          <p:cNvPr id="392" name="Google Shape;392;g358d3b64bad_0_10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3" name="Google Shape;393;g358d3b64bad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58d3b64bad_0_102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89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28"/>
              <a:buChar char="?"/>
            </a:pPr>
            <a:r>
              <a:rPr lang="en-US" sz="2400"/>
              <a:t>Dica de ouro:</a:t>
            </a:r>
            <a:endParaRPr sz="2400"/>
          </a:p>
          <a:p>
            <a:pPr indent="-2489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28"/>
              <a:buChar char="?"/>
            </a:pPr>
            <a:r>
              <a:rPr lang="en-US" sz="2400"/>
              <a:t>1° - Divide o total de linhas pela metade, depois preencher com </a:t>
            </a:r>
            <a:r>
              <a:rPr b="1" lang="en-US" sz="2400"/>
              <a:t>1</a:t>
            </a:r>
            <a:r>
              <a:rPr lang="en-US" sz="2400"/>
              <a:t> na metade das linhas e </a:t>
            </a:r>
            <a:r>
              <a:rPr b="1" lang="en-US" sz="2400"/>
              <a:t>0 zero</a:t>
            </a:r>
            <a:r>
              <a:rPr lang="en-US" sz="2400"/>
              <a:t> nas outra metade.</a:t>
            </a:r>
            <a:endParaRPr sz="2400"/>
          </a:p>
          <a:p>
            <a:pPr indent="-24891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28"/>
              <a:buChar char="?"/>
            </a:pPr>
            <a:r>
              <a:rPr lang="en-US" sz="2400"/>
              <a:t>2° - </a:t>
            </a:r>
            <a:r>
              <a:rPr lang="en-US" sz="2400"/>
              <a:t>Divide  novamente a metade, depois preencher com </a:t>
            </a:r>
            <a:r>
              <a:rPr lang="en-US" sz="2400"/>
              <a:t> duas vezes </a:t>
            </a:r>
            <a:r>
              <a:rPr b="1" lang="en-US" sz="2400"/>
              <a:t>1</a:t>
            </a:r>
            <a:r>
              <a:rPr lang="en-US" sz="2400"/>
              <a:t> e segue duas vezes com </a:t>
            </a:r>
            <a:r>
              <a:rPr b="1" lang="en-US" sz="2400"/>
              <a:t>0 zero</a:t>
            </a:r>
            <a:r>
              <a:rPr lang="en-US" sz="2400"/>
              <a:t> até o final.</a:t>
            </a:r>
            <a:endParaRPr sz="2400"/>
          </a:p>
          <a:p>
            <a:pPr indent="-200658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68"/>
              <a:buChar char="?"/>
            </a:pPr>
            <a:r>
              <a:rPr lang="en-US" sz="2400"/>
              <a:t>3° - </a:t>
            </a:r>
            <a:r>
              <a:rPr lang="en-US" sz="2400"/>
              <a:t>Divide  novamente a metade, preencher com </a:t>
            </a:r>
            <a:r>
              <a:rPr b="1" lang="en-US" sz="2400"/>
              <a:t>1 e 0 zero</a:t>
            </a:r>
            <a:r>
              <a:rPr lang="en-US" sz="2400"/>
              <a:t> até acabar as linhas</a:t>
            </a:r>
            <a:endParaRPr sz="2400"/>
          </a:p>
          <a:p>
            <a:pPr indent="0" lvl="1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128"/>
              <a:buNone/>
            </a:pPr>
            <a:r>
              <a:t/>
            </a:r>
            <a:endParaRPr baseline="30000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8d3b64bad_0_7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01" name="Google Shape;401;g358d3b64bad_0_7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2" name="Google Shape;402;g358d3b64bad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3" name="Google Shape;403;g358d3b64bad_0_77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58d3b64bad_0_11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10" name="Google Shape;410;g358d3b64bad_0_11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1" name="Google Shape;411;g358d3b64bad_0_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2" name="Google Shape;412;g358d3b64bad_0_110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58d3b64bad_0_11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19" name="Google Shape;419;g358d3b64bad_0_11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0" name="Google Shape;420;g358d3b64bad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1" name="Google Shape;421;g358d3b64bad_0_118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58d3b64bad_0_12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28" name="Google Shape;428;g358d3b64bad_0_12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9" name="Google Shape;429;g358d3b64bad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0" name="Google Shape;430;g358d3b64bad_0_126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8d3b64bad_0_13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37" name="Google Shape;437;g358d3b64bad_0_13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8" name="Google Shape;438;g358d3b64bad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9" name="Google Shape;439;g358d3b64bad_0_134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58d3b64bad_0_14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46" name="Google Shape;446;g358d3b64bad_0_14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47" name="Google Shape;447;g358d3b64bad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8" name="Google Shape;448;g358d3b64bad_0_142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58d3b64bad_0_150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55" name="Google Shape;455;g358d3b64bad_0_150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6" name="Google Shape;456;g358d3b64bad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7" name="Google Shape;457;g358d3b64bad_0_150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039250"/>
                <a:gridCol w="1039250"/>
                <a:gridCol w="1039250"/>
                <a:gridCol w="1039250"/>
                <a:gridCol w="1039250"/>
                <a:gridCol w="1039250"/>
              </a:tblGrid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7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58" name="Google Shape;458;g358d3b64bad_0_150"/>
          <p:cNvGraphicFramePr/>
          <p:nvPr/>
        </p:nvGraphicFramePr>
        <p:xfrm>
          <a:off x="6762723" y="1099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 + 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9" name="Google Shape;459;g358d3b64bad_0_150"/>
          <p:cNvGraphicFramePr/>
          <p:nvPr/>
        </p:nvGraphicFramePr>
        <p:xfrm>
          <a:off x="6762723" y="2863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A.B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460" name="Google Shape;460;g358d3b64bad_0_150"/>
          <p:cNvSpPr txBox="1"/>
          <p:nvPr/>
        </p:nvSpPr>
        <p:spPr>
          <a:xfrm>
            <a:off x="7562750" y="751175"/>
            <a:ext cx="52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1" name="Google Shape;461;g358d3b64bad_0_150"/>
          <p:cNvSpPr txBox="1"/>
          <p:nvPr/>
        </p:nvSpPr>
        <p:spPr>
          <a:xfrm>
            <a:off x="7507800" y="2548375"/>
            <a:ext cx="6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58d3b64bad_0_15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68" name="Google Shape;468;g358d3b64bad_0_15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9" name="Google Shape;469;g358d3b64bad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0" name="Google Shape;470;g358d3b64bad_0_158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035575"/>
                <a:gridCol w="1035575"/>
                <a:gridCol w="1035575"/>
                <a:gridCol w="1035575"/>
                <a:gridCol w="1035575"/>
                <a:gridCol w="1035575"/>
              </a:tblGrid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71" name="Google Shape;471;g358d3b64bad_0_158"/>
          <p:cNvGraphicFramePr/>
          <p:nvPr/>
        </p:nvGraphicFramePr>
        <p:xfrm>
          <a:off x="6762723" y="1099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 + 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2" name="Google Shape;472;g358d3b64bad_0_158"/>
          <p:cNvGraphicFramePr/>
          <p:nvPr/>
        </p:nvGraphicFramePr>
        <p:xfrm>
          <a:off x="6762723" y="2863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A.B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473" name="Google Shape;473;g358d3b64bad_0_158"/>
          <p:cNvSpPr txBox="1"/>
          <p:nvPr/>
        </p:nvSpPr>
        <p:spPr>
          <a:xfrm>
            <a:off x="7562750" y="751175"/>
            <a:ext cx="52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4" name="Google Shape;474;g358d3b64bad_0_158"/>
          <p:cNvSpPr txBox="1"/>
          <p:nvPr/>
        </p:nvSpPr>
        <p:spPr>
          <a:xfrm>
            <a:off x="7507800" y="2548375"/>
            <a:ext cx="6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8d3b64bad_0_17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481" name="Google Shape;481;g358d3b64bad_0_17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2" name="Google Shape;482;g358d3b64bad_0_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3" name="Google Shape;483;g358d3b64bad_0_175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035575"/>
                <a:gridCol w="1035575"/>
                <a:gridCol w="1035575"/>
                <a:gridCol w="1035575"/>
                <a:gridCol w="1035575"/>
                <a:gridCol w="1035575"/>
              </a:tblGrid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+ Y.Z’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484" name="Google Shape;484;g358d3b64bad_0_175"/>
          <p:cNvGraphicFramePr/>
          <p:nvPr/>
        </p:nvGraphicFramePr>
        <p:xfrm>
          <a:off x="6762723" y="10994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 + B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5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5" name="Google Shape;485;g358d3b64bad_0_175"/>
          <p:cNvGraphicFramePr/>
          <p:nvPr/>
        </p:nvGraphicFramePr>
        <p:xfrm>
          <a:off x="6762723" y="2863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{7144F0F1-B87E-427D-9D62-2BAAC41AA74A}</a:tableStyleId>
              </a:tblPr>
              <a:tblGrid>
                <a:gridCol w="745075"/>
                <a:gridCol w="745075"/>
                <a:gridCol w="745075"/>
              </a:tblGrid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A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X = A.B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0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000" u="none" cap="none" strike="noStrike"/>
                        <a:t>1</a:t>
                      </a:r>
                      <a:endParaRPr sz="300" u="none" cap="none" strike="noStrike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g358d3b64bad_0_175"/>
          <p:cNvSpPr txBox="1"/>
          <p:nvPr/>
        </p:nvSpPr>
        <p:spPr>
          <a:xfrm>
            <a:off x="7562750" y="751175"/>
            <a:ext cx="52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OR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7" name="Google Shape;487;g358d3b64bad_0_175"/>
          <p:cNvSpPr txBox="1"/>
          <p:nvPr/>
        </p:nvSpPr>
        <p:spPr>
          <a:xfrm>
            <a:off x="7507800" y="2548375"/>
            <a:ext cx="68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AND</a:t>
            </a:r>
            <a:endParaRPr sz="17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493" name="Google Shape;493;g358d3b64bad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g358d3b64bad_0_20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495" name="Google Shape;495;g358d3b64bad_0_204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 + T. Verdade</a:t>
            </a:r>
            <a:endParaRPr/>
          </a:p>
        </p:txBody>
      </p:sp>
      <p:sp>
        <p:nvSpPr>
          <p:cNvPr id="496" name="Google Shape;496;g358d3b64bad_0_20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7" name="Google Shape;497;g358d3b64bad_0_2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358d3b64bad_0_2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358d3b64bad_0_2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0604" y="2507132"/>
            <a:ext cx="1498333" cy="119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358d3b64bad_0_2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651" y="1675401"/>
            <a:ext cx="3687161" cy="202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58d3b64bad_0_21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07" name="Google Shape;507;g358d3b64bad_0_21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8" name="Google Shape;508;g358d3b64bad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9" name="Google Shape;509;g358d3b64bad_0_219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.jpg" id="515" name="Google Shape;515;g358d3b64bad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2950" y="1557338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g358d3b64bad_0_18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Exercicios</a:t>
            </a:r>
            <a:endParaRPr/>
          </a:p>
        </p:txBody>
      </p:sp>
      <p:sp>
        <p:nvSpPr>
          <p:cNvPr id="517" name="Google Shape;517;g358d3b64bad_0_187"/>
          <p:cNvSpPr txBox="1"/>
          <p:nvPr>
            <p:ph idx="1" type="body"/>
          </p:nvPr>
        </p:nvSpPr>
        <p:spPr>
          <a:xfrm>
            <a:off x="457200" y="914400"/>
            <a:ext cx="8229600" cy="3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32"/>
              <a:buFont typeface="Arial"/>
              <a:buAutoNum type="arabicPeriod"/>
            </a:pPr>
            <a:r>
              <a:rPr lang="en-US"/>
              <a:t>Expressões Booleanas + T. Verdade</a:t>
            </a:r>
            <a:endParaRPr/>
          </a:p>
        </p:txBody>
      </p:sp>
      <p:sp>
        <p:nvSpPr>
          <p:cNvPr id="518" name="Google Shape;518;g358d3b64bad_0_18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9" name="Google Shape;519;g358d3b64bad_0_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g358d3b64bad_0_1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0175" y="981300"/>
            <a:ext cx="1599175" cy="127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g358d3b64bad_0_1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0604" y="2507132"/>
            <a:ext cx="1498333" cy="1198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g358d3b64bad_0_1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651" y="1675401"/>
            <a:ext cx="3687161" cy="2029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g358d3b64bad_0_187"/>
          <p:cNvSpPr txBox="1"/>
          <p:nvPr/>
        </p:nvSpPr>
        <p:spPr>
          <a:xfrm>
            <a:off x="2694550" y="1754600"/>
            <a:ext cx="1085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A. B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4" name="Google Shape;524;g358d3b64bad_0_187"/>
          <p:cNvSpPr txBox="1"/>
          <p:nvPr/>
        </p:nvSpPr>
        <p:spPr>
          <a:xfrm>
            <a:off x="2757750" y="3066500"/>
            <a:ext cx="10851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A. C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25" name="Google Shape;525;g358d3b64bad_0_187"/>
          <p:cNvSpPr txBox="1"/>
          <p:nvPr/>
        </p:nvSpPr>
        <p:spPr>
          <a:xfrm>
            <a:off x="4262925" y="2228475"/>
            <a:ext cx="18582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A.B + A. C</a:t>
            </a:r>
            <a:endParaRPr sz="19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58d3b64bad_0_227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32" name="Google Shape;532;g358d3b64bad_0_227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3" name="Google Shape;533;g358d3b64bad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4" name="Google Shape;534;g358d3b64bad_0_227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58d3b64bad_0_235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41" name="Google Shape;541;g358d3b64bad_0_235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42" name="Google Shape;542;g358d3b64bad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3" name="Google Shape;543;g358d3b64bad_0_235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8d3b64bad_0_243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50" name="Google Shape;550;g358d3b64bad_0_243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1" name="Google Shape;551;g358d3b64bad_0_2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2" name="Google Shape;552;g358d3b64bad_0_243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58d3b64bad_0_251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59" name="Google Shape;559;g358d3b64bad_0_251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0" name="Google Shape;560;g358d3b64bad_0_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1" name="Google Shape;561;g358d3b64bad_0_251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58d3b64bad_0_259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68" name="Google Shape;568;g358d3b64bad_0_259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9" name="Google Shape;569;g358d3b64bad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0" name="Google Shape;570;g358d3b64bad_0_259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58d3b64bad_0_268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77" name="Google Shape;577;g358d3b64bad_0_268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8" name="Google Shape;578;g358d3b64bad_0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9" name="Google Shape;579;g358d3b64bad_0_268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02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= A.C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58d3b64bad_0_276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86" name="Google Shape;586;g358d3b64bad_0_276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7" name="Google Shape;587;g358d3b64bad_0_2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8" name="Google Shape;588;g358d3b64bad_0_276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2276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= A.C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= (D + E ) = (A.B + A.C)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58d3b64bad_0_292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595" name="Google Shape;595;g358d3b64bad_0_29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6" name="Google Shape;596;g358d3b64bad_0_2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7" name="Google Shape;597;g358d3b64bad_0_292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2276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= A.C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= (D + E ) = (A.B + A.C)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58d3b64bad_0_32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604" name="Google Shape;604;g358d3b64bad_0_32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5" name="Google Shape;605;g358d3b64bad_0_3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6" name="Google Shape;606;g358d3b64bad_0_324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2276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= A.C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= (D + E ) = (A.B + A.C)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58d3b64bad_0_284"/>
          <p:cNvSpPr txBox="1"/>
          <p:nvPr>
            <p:ph type="title"/>
          </p:nvPr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ookman Old Style"/>
              <a:buNone/>
            </a:pPr>
            <a:r>
              <a:rPr lang="en-US"/>
              <a:t>Exercícios - Tabela Verdade</a:t>
            </a:r>
            <a:endParaRPr/>
          </a:p>
        </p:txBody>
      </p:sp>
      <p:sp>
        <p:nvSpPr>
          <p:cNvPr id="613" name="Google Shape;613;g358d3b64bad_0_284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4" name="Google Shape;614;g358d3b64bad_0_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5" name="Google Shape;615;g358d3b64bad_0_284"/>
          <p:cNvGraphicFramePr/>
          <p:nvPr/>
        </p:nvGraphicFramePr>
        <p:xfrm>
          <a:off x="336200" y="109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{9DC8FF0A-3E31-4EE0-A6A6-F96A07571152}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2276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 = A.B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 = A.C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 = (D + E ) = (A.B + A.C)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58d3b64bad_0_332"/>
          <p:cNvSpPr txBox="1"/>
          <p:nvPr>
            <p:ph idx="12" type="sldNum"/>
          </p:nvPr>
        </p:nvSpPr>
        <p:spPr>
          <a:xfrm>
            <a:off x="612648" y="4767263"/>
            <a:ext cx="19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2" name="Google Shape;622;g358d3b64bad_0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950" y="38112"/>
            <a:ext cx="1027376" cy="371724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g358d3b64bad_0_332"/>
          <p:cNvSpPr txBox="1"/>
          <p:nvPr/>
        </p:nvSpPr>
        <p:spPr>
          <a:xfrm>
            <a:off x="677443" y="114300"/>
            <a:ext cx="8074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1F497D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Obrigado, dúvidas?</a:t>
            </a:r>
            <a:endParaRPr sz="3600">
              <a:solidFill>
                <a:srgbClr val="1F497D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descr="question.jpg" id="624" name="Google Shape;624;g358d3b64bad_0_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3625" y="13194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DC03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