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143500" cx="9144000"/>
  <p:notesSz cx="6858000" cy="9144000"/>
  <p:embeddedFontLst>
    <p:embeddedFont>
      <p:font typeface="Caveat"/>
      <p:regular r:id="rId42"/>
      <p:bold r:id="rId43"/>
    </p:embeddedFont>
    <p:embeddedFont>
      <p:font typeface="Montserrat"/>
      <p:regular r:id="rId44"/>
      <p:bold r:id="rId45"/>
      <p:italic r:id="rId46"/>
      <p:boldItalic r:id="rId47"/>
    </p:embeddedFont>
    <p:embeddedFont>
      <p:font typeface="Gill Sans"/>
      <p:regular r:id="rId48"/>
      <p:bold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0" roundtripDataSignature="AMtx7mgpGNELh2/zi0drJbQTKvDGqVs6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AE922C-BD11-4ADB-8D8E-02891A41394A}">
  <a:tblStyle styleId="{C1AE922C-BD11-4ADB-8D8E-02891A41394A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accent1">
              <a:alpha val="40000"/>
            </a:schemeClr>
          </a:solidFill>
        </a:fill>
      </a:tcStyle>
    </a:band1H>
    <a:band2H>
      <a:tcTxStyle b="off" i="off"/>
    </a:band2H>
    <a:band1V>
      <a:tcTxStyle b="off" i="off"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 b="off" i="off"/>
    </a:band2V>
    <a:la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10DC0EF6-C59F-4A9C-91E3-4D5F35EC13CF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Caveat-regular.fntdata"/><Relationship Id="rId41" Type="http://schemas.openxmlformats.org/officeDocument/2006/relationships/slide" Target="slides/slide35.xml"/><Relationship Id="rId44" Type="http://schemas.openxmlformats.org/officeDocument/2006/relationships/font" Target="fonts/Montserrat-regular.fntdata"/><Relationship Id="rId43" Type="http://schemas.openxmlformats.org/officeDocument/2006/relationships/font" Target="fonts/Caveat-bold.fntdata"/><Relationship Id="rId46" Type="http://schemas.openxmlformats.org/officeDocument/2006/relationships/font" Target="fonts/Montserrat-italic.fntdata"/><Relationship Id="rId45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GillSans-regular.fntdata"/><Relationship Id="rId47" Type="http://schemas.openxmlformats.org/officeDocument/2006/relationships/font" Target="fonts/Montserrat-boldItalic.fntdata"/><Relationship Id="rId49" Type="http://schemas.openxmlformats.org/officeDocument/2006/relationships/font" Target="fonts/Gill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Em Michigan, ele se formou engenheiro elétrico e matemático e fez um curso de filosofia no qual conheceu o trabalho do filósofo do século XIX, George Boole.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Tudo isso se concretizou quando ele observou que a relação entre interruptores elétricos e corrente poderia imitar o processo intelectual da lógia simbólica e da matemática.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 chaves do circuito de controle, que podiam abrir e fechar automaticamente, correspondiam à lógica de escolha binária, na qual uma afirmação é verdadeira ou falsa.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 álgebra booleana, as declarações recebem valores: 1 para declarações verdadeiras e 0 para declarações falsas.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 base nessa teoria, Shannon aplicou o valor "1" aos circuitos abertos e o valor "0" aos fechados.</a:t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" name="Google Shape;328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" name="Google Shape;358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7" name="Google Shape;367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p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7" name="Google Shape;417;p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p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p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4" name="Google Shape;454;p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4" name="Google Shape;464;p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2" name="Google Shape;482;p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58bef7609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g358bef760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2" name="Google Shape;492;g358bef76091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6"/>
          <p:cNvSpPr txBox="1"/>
          <p:nvPr>
            <p:ph type="ctrTitle"/>
          </p:nvPr>
        </p:nvSpPr>
        <p:spPr>
          <a:xfrm>
            <a:off x="1219200" y="1349224"/>
            <a:ext cx="68580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6"/>
          <p:cNvSpPr/>
          <p:nvPr/>
        </p:nvSpPr>
        <p:spPr>
          <a:xfrm>
            <a:off x="904875" y="1105713"/>
            <a:ext cx="7315200" cy="145800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" name="Google Shape;23;p36"/>
          <p:cNvSpPr/>
          <p:nvPr/>
        </p:nvSpPr>
        <p:spPr>
          <a:xfrm>
            <a:off x="904875" y="1105713"/>
            <a:ext cx="228600" cy="14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" name="Google Shape;24;p36"/>
          <p:cNvSpPr txBox="1"/>
          <p:nvPr>
            <p:ph idx="11" type="ftr"/>
          </p:nvPr>
        </p:nvSpPr>
        <p:spPr>
          <a:xfrm>
            <a:off x="1840089" y="4766310"/>
            <a:ext cx="63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2" type="sldNum"/>
          </p:nvPr>
        </p:nvSpPr>
        <p:spPr>
          <a:xfrm>
            <a:off x="1216152" y="4766310"/>
            <a:ext cx="121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6609" y="133528"/>
            <a:ext cx="1835834" cy="655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7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7"/>
          <p:cNvSpPr txBox="1"/>
          <p:nvPr>
            <p:ph idx="11" type="ftr"/>
          </p:nvPr>
        </p:nvSpPr>
        <p:spPr>
          <a:xfrm>
            <a:off x="612649" y="4767263"/>
            <a:ext cx="7467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7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37"/>
          <p:cNvSpPr txBox="1"/>
          <p:nvPr>
            <p:ph idx="1" type="body"/>
          </p:nvPr>
        </p:nvSpPr>
        <p:spPr>
          <a:xfrm>
            <a:off x="457200" y="914400"/>
            <a:ext cx="82296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dk2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8"/>
          <p:cNvSpPr txBox="1"/>
          <p:nvPr>
            <p:ph type="title"/>
          </p:nvPr>
        </p:nvSpPr>
        <p:spPr>
          <a:xfrm>
            <a:off x="1219200" y="2228850"/>
            <a:ext cx="6858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ookman Old Style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8"/>
          <p:cNvSpPr txBox="1"/>
          <p:nvPr>
            <p:ph idx="1" type="body"/>
          </p:nvPr>
        </p:nvSpPr>
        <p:spPr>
          <a:xfrm>
            <a:off x="1295400" y="3200400"/>
            <a:ext cx="6781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35" name="Google Shape;35;p38"/>
          <p:cNvSpPr txBox="1"/>
          <p:nvPr>
            <p:ph idx="10" type="dt"/>
          </p:nvPr>
        </p:nvSpPr>
        <p:spPr>
          <a:xfrm>
            <a:off x="6400800" y="4766310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8"/>
          <p:cNvSpPr txBox="1"/>
          <p:nvPr>
            <p:ph idx="11" type="ftr"/>
          </p:nvPr>
        </p:nvSpPr>
        <p:spPr>
          <a:xfrm>
            <a:off x="2898648" y="4766310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8"/>
          <p:cNvSpPr txBox="1"/>
          <p:nvPr>
            <p:ph idx="12" type="sldNum"/>
          </p:nvPr>
        </p:nvSpPr>
        <p:spPr>
          <a:xfrm>
            <a:off x="1069848" y="4766310"/>
            <a:ext cx="1521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38"/>
          <p:cNvSpPr/>
          <p:nvPr/>
        </p:nvSpPr>
        <p:spPr>
          <a:xfrm>
            <a:off x="914400" y="2114550"/>
            <a:ext cx="7315200" cy="96000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" name="Google Shape;39;p38"/>
          <p:cNvSpPr/>
          <p:nvPr/>
        </p:nvSpPr>
        <p:spPr>
          <a:xfrm>
            <a:off x="914400" y="2114550"/>
            <a:ext cx="228600" cy="9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9"/>
          <p:cNvSpPr txBox="1"/>
          <p:nvPr>
            <p:ph type="title"/>
          </p:nvPr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9"/>
          <p:cNvSpPr txBox="1"/>
          <p:nvPr>
            <p:ph idx="10" type="dt"/>
          </p:nvPr>
        </p:nvSpPr>
        <p:spPr>
          <a:xfrm>
            <a:off x="6400800" y="4767263"/>
            <a:ext cx="228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9"/>
          <p:cNvSpPr txBox="1"/>
          <p:nvPr>
            <p:ph idx="11" type="ftr"/>
          </p:nvPr>
        </p:nvSpPr>
        <p:spPr>
          <a:xfrm>
            <a:off x="2898648" y="4767263"/>
            <a:ext cx="350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9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39"/>
          <p:cNvSpPr txBox="1"/>
          <p:nvPr>
            <p:ph idx="1" type="body"/>
          </p:nvPr>
        </p:nvSpPr>
        <p:spPr>
          <a:xfrm>
            <a:off x="457200" y="914400"/>
            <a:ext cx="40416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46" name="Google Shape;46;p39"/>
          <p:cNvSpPr txBox="1"/>
          <p:nvPr>
            <p:ph idx="2" type="body"/>
          </p:nvPr>
        </p:nvSpPr>
        <p:spPr>
          <a:xfrm>
            <a:off x="4632198" y="912114"/>
            <a:ext cx="40416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0"/>
          <p:cNvSpPr txBox="1"/>
          <p:nvPr>
            <p:ph type="title"/>
          </p:nvPr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0"/>
          <p:cNvSpPr txBox="1"/>
          <p:nvPr>
            <p:ph idx="1" type="body"/>
          </p:nvPr>
        </p:nvSpPr>
        <p:spPr>
          <a:xfrm>
            <a:off x="457200" y="964406"/>
            <a:ext cx="40401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50" name="Google Shape;50;p40"/>
          <p:cNvSpPr txBox="1"/>
          <p:nvPr>
            <p:ph idx="2" type="body"/>
          </p:nvPr>
        </p:nvSpPr>
        <p:spPr>
          <a:xfrm>
            <a:off x="4648200" y="971550"/>
            <a:ext cx="40419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51" name="Google Shape;51;p40"/>
          <p:cNvSpPr txBox="1"/>
          <p:nvPr>
            <p:ph idx="10" type="dt"/>
          </p:nvPr>
        </p:nvSpPr>
        <p:spPr>
          <a:xfrm>
            <a:off x="6400800" y="4767263"/>
            <a:ext cx="228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11" type="ftr"/>
          </p:nvPr>
        </p:nvSpPr>
        <p:spPr>
          <a:xfrm>
            <a:off x="2898648" y="4767263"/>
            <a:ext cx="350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40"/>
          <p:cNvSpPr txBox="1"/>
          <p:nvPr>
            <p:ph idx="3" type="body"/>
          </p:nvPr>
        </p:nvSpPr>
        <p:spPr>
          <a:xfrm>
            <a:off x="457200" y="1600200"/>
            <a:ext cx="4038600" cy="30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55" name="Google Shape;55;p40"/>
          <p:cNvSpPr txBox="1"/>
          <p:nvPr>
            <p:ph idx="4" type="body"/>
          </p:nvPr>
        </p:nvSpPr>
        <p:spPr>
          <a:xfrm>
            <a:off x="4648200" y="1600200"/>
            <a:ext cx="4038600" cy="30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1"/>
          <p:cNvSpPr txBox="1"/>
          <p:nvPr>
            <p:ph type="title"/>
          </p:nvPr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1"/>
          <p:cNvSpPr txBox="1"/>
          <p:nvPr>
            <p:ph idx="10" type="dt"/>
          </p:nvPr>
        </p:nvSpPr>
        <p:spPr>
          <a:xfrm>
            <a:off x="6400800" y="4767263"/>
            <a:ext cx="228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1"/>
          <p:cNvSpPr txBox="1"/>
          <p:nvPr>
            <p:ph idx="11" type="ftr"/>
          </p:nvPr>
        </p:nvSpPr>
        <p:spPr>
          <a:xfrm>
            <a:off x="2898648" y="4767263"/>
            <a:ext cx="350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41"/>
          <p:cNvSpPr/>
          <p:nvPr/>
        </p:nvSpPr>
        <p:spPr>
          <a:xfrm rot="5400000">
            <a:off x="442981" y="4835556"/>
            <a:ext cx="143100" cy="120300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2"/>
          <p:cNvSpPr txBox="1"/>
          <p:nvPr>
            <p:ph idx="10" type="dt"/>
          </p:nvPr>
        </p:nvSpPr>
        <p:spPr>
          <a:xfrm>
            <a:off x="6400800" y="4767263"/>
            <a:ext cx="228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2"/>
          <p:cNvSpPr txBox="1"/>
          <p:nvPr>
            <p:ph idx="11" type="ftr"/>
          </p:nvPr>
        </p:nvSpPr>
        <p:spPr>
          <a:xfrm>
            <a:off x="2898648" y="4767263"/>
            <a:ext cx="350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2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6" name="Google Shape;66;p42"/>
          <p:cNvCxnSpPr/>
          <p:nvPr/>
        </p:nvCxnSpPr>
        <p:spPr>
          <a:xfrm>
            <a:off x="457200" y="4764881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7" name="Google Shape;67;p42"/>
          <p:cNvSpPr/>
          <p:nvPr/>
        </p:nvSpPr>
        <p:spPr>
          <a:xfrm rot="5400000">
            <a:off x="442981" y="4835556"/>
            <a:ext cx="143100" cy="120300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3"/>
          <p:cNvSpPr txBox="1"/>
          <p:nvPr>
            <p:ph type="title"/>
          </p:nvPr>
        </p:nvSpPr>
        <p:spPr>
          <a:xfrm>
            <a:off x="6324600" y="228600"/>
            <a:ext cx="25146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ill Sans"/>
              <a:buNone/>
              <a:defRPr b="1" sz="20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3"/>
          <p:cNvSpPr txBox="1"/>
          <p:nvPr>
            <p:ph idx="1" type="body"/>
          </p:nvPr>
        </p:nvSpPr>
        <p:spPr>
          <a:xfrm>
            <a:off x="6324600" y="914400"/>
            <a:ext cx="25146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30"/>
              <a:buNone/>
              <a:defRPr sz="9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71" name="Google Shape;71;p43"/>
          <p:cNvSpPr txBox="1"/>
          <p:nvPr>
            <p:ph idx="10" type="dt"/>
          </p:nvPr>
        </p:nvSpPr>
        <p:spPr>
          <a:xfrm>
            <a:off x="6400800" y="4767263"/>
            <a:ext cx="228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3"/>
          <p:cNvSpPr txBox="1"/>
          <p:nvPr>
            <p:ph idx="11" type="ftr"/>
          </p:nvPr>
        </p:nvSpPr>
        <p:spPr>
          <a:xfrm>
            <a:off x="2898648" y="4767263"/>
            <a:ext cx="350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3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4" name="Google Shape;74;p43"/>
          <p:cNvCxnSpPr/>
          <p:nvPr/>
        </p:nvCxnSpPr>
        <p:spPr>
          <a:xfrm>
            <a:off x="457200" y="4764881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5" name="Google Shape;75;p43"/>
          <p:cNvCxnSpPr/>
          <p:nvPr/>
        </p:nvCxnSpPr>
        <p:spPr>
          <a:xfrm rot="5400000">
            <a:off x="3914965" y="2493229"/>
            <a:ext cx="45264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6" name="Google Shape;76;p43"/>
          <p:cNvSpPr/>
          <p:nvPr/>
        </p:nvSpPr>
        <p:spPr>
          <a:xfrm rot="5400000">
            <a:off x="442981" y="4835556"/>
            <a:ext cx="143100" cy="120300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" name="Google Shape;77;p43"/>
          <p:cNvSpPr txBox="1"/>
          <p:nvPr>
            <p:ph idx="2" type="body"/>
          </p:nvPr>
        </p:nvSpPr>
        <p:spPr>
          <a:xfrm>
            <a:off x="304800" y="228600"/>
            <a:ext cx="5715000" cy="4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bg>
      <p:bgPr>
        <a:solidFill>
          <a:schemeClr val="dk2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4"/>
          <p:cNvSpPr txBox="1"/>
          <p:nvPr>
            <p:ph type="title"/>
          </p:nvPr>
        </p:nvSpPr>
        <p:spPr>
          <a:xfrm>
            <a:off x="457200" y="375642"/>
            <a:ext cx="8229600" cy="5061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74300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ookman Old Style"/>
              <a:buNone/>
              <a:defRPr b="0" sz="2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4"/>
          <p:cNvSpPr/>
          <p:nvPr>
            <p:ph idx="2" type="pic"/>
          </p:nvPr>
        </p:nvSpPr>
        <p:spPr>
          <a:xfrm>
            <a:off x="457200" y="1428750"/>
            <a:ext cx="8229600" cy="3202800"/>
          </a:xfrm>
          <a:prstGeom prst="rect">
            <a:avLst/>
          </a:prstGeom>
          <a:solidFill>
            <a:srgbClr val="BABABA"/>
          </a:solidFill>
          <a:ln>
            <a:noFill/>
          </a:ln>
        </p:spPr>
      </p:sp>
      <p:sp>
        <p:nvSpPr>
          <p:cNvPr id="81" name="Google Shape;81;p44"/>
          <p:cNvSpPr txBox="1"/>
          <p:nvPr>
            <p:ph idx="1" type="body"/>
          </p:nvPr>
        </p:nvSpPr>
        <p:spPr>
          <a:xfrm>
            <a:off x="457200" y="914400"/>
            <a:ext cx="822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64"/>
              <a:buFont typeface="Gill Sans"/>
              <a:buNone/>
              <a:defRPr sz="1400"/>
            </a:lvl1pPr>
            <a:lvl2pPr indent="-28651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12"/>
              <a:buChar char="?"/>
              <a:defRPr sz="1200"/>
            </a:lvl2pPr>
            <a:lvl3pPr indent="-2768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60"/>
              <a:buChar char="?"/>
              <a:defRPr sz="1000"/>
            </a:lvl3pPr>
            <a:lvl4pPr indent="-268605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30"/>
              <a:buChar char="◻"/>
              <a:defRPr sz="900"/>
            </a:lvl4pPr>
            <a:lvl5pPr indent="-268604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30"/>
              <a:buChar char="◻"/>
              <a:defRPr sz="9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82" name="Google Shape;82;p44"/>
          <p:cNvSpPr txBox="1"/>
          <p:nvPr>
            <p:ph idx="10" type="dt"/>
          </p:nvPr>
        </p:nvSpPr>
        <p:spPr>
          <a:xfrm>
            <a:off x="6400800" y="4767263"/>
            <a:ext cx="228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4"/>
          <p:cNvSpPr txBox="1"/>
          <p:nvPr>
            <p:ph idx="11" type="ftr"/>
          </p:nvPr>
        </p:nvSpPr>
        <p:spPr>
          <a:xfrm>
            <a:off x="2898648" y="4767263"/>
            <a:ext cx="350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4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5" name="Google Shape;85;p44"/>
          <p:cNvCxnSpPr/>
          <p:nvPr/>
        </p:nvCxnSpPr>
        <p:spPr>
          <a:xfrm>
            <a:off x="457200" y="4764881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6" name="Google Shape;86;p44"/>
          <p:cNvSpPr/>
          <p:nvPr/>
        </p:nvSpPr>
        <p:spPr>
          <a:xfrm rot="5400000">
            <a:off x="442981" y="4835556"/>
            <a:ext cx="143100" cy="120300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44"/>
          <p:cNvSpPr/>
          <p:nvPr/>
        </p:nvSpPr>
        <p:spPr>
          <a:xfrm>
            <a:off x="457200" y="375642"/>
            <a:ext cx="183000" cy="5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5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5"/>
          <p:cNvSpPr txBox="1"/>
          <p:nvPr>
            <p:ph idx="1" type="body"/>
          </p:nvPr>
        </p:nvSpPr>
        <p:spPr>
          <a:xfrm rot="5400000">
            <a:off x="2730600" y="-1359000"/>
            <a:ext cx="36828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91" name="Google Shape;91;p45"/>
          <p:cNvSpPr txBox="1"/>
          <p:nvPr>
            <p:ph idx="10" type="dt"/>
          </p:nvPr>
        </p:nvSpPr>
        <p:spPr>
          <a:xfrm>
            <a:off x="6400800" y="4767263"/>
            <a:ext cx="228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5"/>
          <p:cNvSpPr txBox="1"/>
          <p:nvPr>
            <p:ph idx="11" type="ftr"/>
          </p:nvPr>
        </p:nvSpPr>
        <p:spPr>
          <a:xfrm>
            <a:off x="2898648" y="4767263"/>
            <a:ext cx="350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5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6"/>
          <p:cNvSpPr txBox="1"/>
          <p:nvPr>
            <p:ph type="title"/>
          </p:nvPr>
        </p:nvSpPr>
        <p:spPr>
          <a:xfrm rot="5400000">
            <a:off x="5463750" y="1371629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6"/>
          <p:cNvSpPr txBox="1"/>
          <p:nvPr>
            <p:ph idx="1" type="body"/>
          </p:nvPr>
        </p:nvSpPr>
        <p:spPr>
          <a:xfrm rot="5400000">
            <a:off x="1272750" y="-609572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97" name="Google Shape;97;p46"/>
          <p:cNvSpPr txBox="1"/>
          <p:nvPr>
            <p:ph idx="10" type="dt"/>
          </p:nvPr>
        </p:nvSpPr>
        <p:spPr>
          <a:xfrm>
            <a:off x="6400800" y="4767263"/>
            <a:ext cx="228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6"/>
          <p:cNvSpPr txBox="1"/>
          <p:nvPr>
            <p:ph idx="11" type="ftr"/>
          </p:nvPr>
        </p:nvSpPr>
        <p:spPr>
          <a:xfrm>
            <a:off x="2898648" y="4767263"/>
            <a:ext cx="350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6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0" name="Google Shape;100;p46"/>
          <p:cNvCxnSpPr/>
          <p:nvPr/>
        </p:nvCxnSpPr>
        <p:spPr>
          <a:xfrm>
            <a:off x="457200" y="4764881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1" name="Google Shape;101;p46"/>
          <p:cNvSpPr/>
          <p:nvPr/>
        </p:nvSpPr>
        <p:spPr>
          <a:xfrm rot="5400000">
            <a:off x="442981" y="4835556"/>
            <a:ext cx="143100" cy="120300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02" name="Google Shape;102;p46"/>
          <p:cNvCxnSpPr/>
          <p:nvPr/>
        </p:nvCxnSpPr>
        <p:spPr>
          <a:xfrm rot="5400000">
            <a:off x="4361187" y="2401404"/>
            <a:ext cx="43890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8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  <a:defRPr b="0" i="0" sz="36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5"/>
          <p:cNvSpPr txBox="1"/>
          <p:nvPr>
            <p:ph idx="1" type="body"/>
          </p:nvPr>
        </p:nvSpPr>
        <p:spPr>
          <a:xfrm>
            <a:off x="457200" y="914400"/>
            <a:ext cx="8229600" cy="3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3032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38CD5"/>
              </a:buClr>
              <a:buSzPts val="2432"/>
              <a:buFont typeface="Noto Sans Symbols"/>
              <a:buChar char="🞂"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63728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38CD5"/>
              </a:buClr>
              <a:buSzPts val="2128"/>
              <a:buFont typeface="Noto Sans Symbols"/>
              <a:buChar char="🞂"/>
              <a:defRPr b="0" i="0" sz="2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38CD5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38CD5"/>
              </a:buClr>
              <a:buSzPts val="1400"/>
              <a:buFont typeface="Noto Sans Symbols"/>
              <a:buChar char="◻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38CD5"/>
              </a:buClr>
              <a:buSzPts val="1400"/>
              <a:buFont typeface="Noto Sans Symbols"/>
              <a:buChar char="◻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35"/>
          <p:cNvSpPr txBox="1"/>
          <p:nvPr>
            <p:ph idx="10" type="dt"/>
          </p:nvPr>
        </p:nvSpPr>
        <p:spPr>
          <a:xfrm>
            <a:off x="6400800" y="4767263"/>
            <a:ext cx="228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35"/>
          <p:cNvSpPr txBox="1"/>
          <p:nvPr>
            <p:ph idx="11" type="ftr"/>
          </p:nvPr>
        </p:nvSpPr>
        <p:spPr>
          <a:xfrm>
            <a:off x="2898648" y="4767263"/>
            <a:ext cx="350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35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35"/>
          <p:cNvCxnSpPr/>
          <p:nvPr/>
        </p:nvCxnSpPr>
        <p:spPr>
          <a:xfrm>
            <a:off x="457200" y="4764881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538CD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" name="Google Shape;16;p35"/>
          <p:cNvCxnSpPr/>
          <p:nvPr/>
        </p:nvCxnSpPr>
        <p:spPr>
          <a:xfrm>
            <a:off x="457200" y="85725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538CD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" name="Google Shape;17;p35"/>
          <p:cNvSpPr/>
          <p:nvPr/>
        </p:nvSpPr>
        <p:spPr>
          <a:xfrm rot="5400000">
            <a:off x="442981" y="4835556"/>
            <a:ext cx="143100" cy="120300"/>
          </a:xfrm>
          <a:prstGeom prst="triangle">
            <a:avLst>
              <a:gd fmla="val 50000" name="adj"/>
            </a:avLst>
          </a:prstGeom>
          <a:solidFill>
            <a:srgbClr val="538CD5"/>
          </a:solidFill>
          <a:ln cap="rnd" cmpd="sng" w="254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logomarca_color.jpg" id="18" name="Google Shape;18;p35"/>
          <p:cNvPicPr preferRelativeResize="0"/>
          <p:nvPr/>
        </p:nvPicPr>
        <p:blipFill rotWithShape="1">
          <a:blip r:embed="rId1">
            <a:alphaModFix/>
          </a:blip>
          <a:srcRect b="0" l="86141" r="0" t="0"/>
          <a:stretch/>
        </p:blipFill>
        <p:spPr>
          <a:xfrm>
            <a:off x="8073321" y="4513811"/>
            <a:ext cx="613480" cy="62968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5"/>
          <p:cNvSpPr/>
          <p:nvPr/>
        </p:nvSpPr>
        <p:spPr>
          <a:xfrm>
            <a:off x="446572" y="112511"/>
            <a:ext cx="228600" cy="80190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hyperlink" Target="https://www.bbc.com/portuguese/articles/c5y2zpgj24eo" TargetMode="External"/><Relationship Id="rId5" Type="http://schemas.openxmlformats.org/officeDocument/2006/relationships/hyperlink" Target="https://www.cs.virginia.edu/~evans/greatworks/shannon38.pdf" TargetMode="External"/><Relationship Id="rId6" Type="http://schemas.openxmlformats.org/officeDocument/2006/relationships/image" Target="../media/image10.png"/><Relationship Id="rId7" Type="http://schemas.openxmlformats.org/officeDocument/2006/relationships/hyperlink" Target="http://neilsloane.com/doc/shannon.html" TargetMode="External"/><Relationship Id="rId8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8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30.png"/><Relationship Id="rId8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3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Relationship Id="rId5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jpg"/><Relationship Id="rId4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0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image" Target="../media/image33.png"/><Relationship Id="rId9" Type="http://schemas.openxmlformats.org/officeDocument/2006/relationships/image" Target="../media/image7.png"/><Relationship Id="rId5" Type="http://schemas.openxmlformats.org/officeDocument/2006/relationships/image" Target="../media/image30.png"/><Relationship Id="rId6" Type="http://schemas.openxmlformats.org/officeDocument/2006/relationships/image" Target="../media/image22.png"/><Relationship Id="rId7" Type="http://schemas.openxmlformats.org/officeDocument/2006/relationships/image" Target="../media/image6.png"/><Relationship Id="rId8" Type="http://schemas.openxmlformats.org/officeDocument/2006/relationships/image" Target="../media/image1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2.jpg"/><Relationship Id="rId4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2.jpg"/><Relationship Id="rId4" Type="http://schemas.openxmlformats.org/officeDocument/2006/relationships/image" Target="../media/image2.png"/><Relationship Id="rId5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 txBox="1"/>
          <p:nvPr>
            <p:ph type="ctrTitle"/>
          </p:nvPr>
        </p:nvSpPr>
        <p:spPr>
          <a:xfrm>
            <a:off x="1219200" y="1349224"/>
            <a:ext cx="69597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40"/>
              <a:buFont typeface="Bookman Old Style"/>
              <a:buNone/>
            </a:pPr>
            <a:r>
              <a:rPr lang="en-US" sz="3440">
                <a:latin typeface="Montserrat"/>
                <a:ea typeface="Montserrat"/>
                <a:cs typeface="Montserrat"/>
                <a:sym typeface="Montserrat"/>
              </a:rPr>
              <a:t>Fundamentos da Computação</a:t>
            </a:r>
            <a:br>
              <a:rPr lang="en-US" sz="344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440">
                <a:latin typeface="Montserrat"/>
                <a:ea typeface="Montserrat"/>
                <a:cs typeface="Montserrat"/>
                <a:sym typeface="Montserrat"/>
              </a:rPr>
              <a:t>Lógica Digital</a:t>
            </a:r>
            <a:endParaRPr sz="308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2604001" y="3773700"/>
            <a:ext cx="55749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Material produzido por </a:t>
            </a:r>
            <a:endParaRPr sz="1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Professor Mozart Siqueira</a:t>
            </a:r>
            <a:endParaRPr b="0" i="0" sz="19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mozart.siqueira@unilasalle.edu.br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2681651" y="2640225"/>
            <a:ext cx="55749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Professor Wendel Tadeu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Objetivos da aula</a:t>
            </a:r>
            <a:endParaRPr/>
          </a:p>
        </p:txBody>
      </p:sp>
      <p:sp>
        <p:nvSpPr>
          <p:cNvPr id="115" name="Google Shape;115;p2"/>
          <p:cNvSpPr txBox="1"/>
          <p:nvPr>
            <p:ph idx="1" type="body"/>
          </p:nvPr>
        </p:nvSpPr>
        <p:spPr>
          <a:xfrm>
            <a:off x="190500" y="914400"/>
            <a:ext cx="82944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32"/>
              <a:buFont typeface="Arial"/>
              <a:buChar char="●"/>
            </a:pPr>
            <a:r>
              <a:rPr lang="en-US"/>
              <a:t>Conceitos de Lógica Digital</a:t>
            </a:r>
            <a:endParaRPr/>
          </a:p>
          <a:p>
            <a:pPr indent="-514350" lvl="0" marL="51435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32"/>
              <a:buFont typeface="Arial"/>
              <a:buChar char="●"/>
            </a:pPr>
            <a:r>
              <a:rPr lang="en-US"/>
              <a:t>Lógica Booleana</a:t>
            </a:r>
            <a:endParaRPr/>
          </a:p>
          <a:p>
            <a:pPr indent="-276860" lvl="2" marL="82296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28"/>
              <a:buChar char="■"/>
            </a:pPr>
            <a:r>
              <a:rPr lang="en-US"/>
              <a:t>Álgebra Booleana</a:t>
            </a:r>
            <a:endParaRPr/>
          </a:p>
          <a:p>
            <a:pPr indent="-276860" lvl="2" marL="82296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28"/>
              <a:buChar char="■"/>
            </a:pPr>
            <a:r>
              <a:rPr lang="en-US"/>
              <a:t>Tabela Verdade</a:t>
            </a:r>
            <a:endParaRPr/>
          </a:p>
          <a:p>
            <a:pPr indent="-276860" lvl="2" marL="82296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28"/>
              <a:buChar char="■"/>
            </a:pPr>
            <a:r>
              <a:rPr lang="en-US"/>
              <a:t>Portas Lógicas</a:t>
            </a:r>
            <a:endParaRPr/>
          </a:p>
          <a:p>
            <a:pPr indent="-514350" lvl="0" marL="51435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32"/>
              <a:buFont typeface="Arial"/>
              <a:buChar char="●"/>
            </a:pPr>
            <a:r>
              <a:rPr lang="en-US"/>
              <a:t>Exercícios</a:t>
            </a:r>
            <a:endParaRPr/>
          </a:p>
        </p:txBody>
      </p:sp>
      <p:sp>
        <p:nvSpPr>
          <p:cNvPr id="116" name="Google Shape;116;p2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7" name="Google Shape;11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750" y="114312"/>
            <a:ext cx="1027374" cy="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97898">
            <a:off x="5074616" y="1656620"/>
            <a:ext cx="3071391" cy="2303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Relembrando: G1</a:t>
            </a:r>
            <a:endParaRPr/>
          </a:p>
        </p:txBody>
      </p:sp>
      <p:sp>
        <p:nvSpPr>
          <p:cNvPr id="124" name="Google Shape;124;p3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3"/>
          <p:cNvSpPr txBox="1"/>
          <p:nvPr>
            <p:ph idx="1" type="body"/>
          </p:nvPr>
        </p:nvSpPr>
        <p:spPr>
          <a:xfrm>
            <a:off x="457200" y="914400"/>
            <a:ext cx="82296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62737" lvl="0" marL="2743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O que estudamos?</a:t>
            </a:r>
            <a:endParaRPr/>
          </a:p>
          <a:p>
            <a:pPr indent="-264185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Jargão da área de computação</a:t>
            </a:r>
            <a:endParaRPr/>
          </a:p>
          <a:p>
            <a:pPr indent="-264185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Bases não decimais (operações e conversão)</a:t>
            </a:r>
            <a:endParaRPr/>
          </a:p>
          <a:p>
            <a:pPr indent="-264185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Representação binária de dados</a:t>
            </a:r>
            <a:endParaRPr/>
          </a:p>
          <a:p>
            <a:pPr indent="-221361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O que se faz com esses dados representados em binário?</a:t>
            </a:r>
            <a:endParaRPr/>
          </a:p>
          <a:p>
            <a:pPr indent="-221361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Como esses dados são fisicamente armazenados?</a:t>
            </a:r>
            <a:endParaRPr/>
          </a:p>
          <a:p>
            <a:pPr indent="-139191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pic>
        <p:nvPicPr>
          <p:cNvPr id="126" name="Google Shape;12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750" y="114312"/>
            <a:ext cx="1027374" cy="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Conceitos da Lógica Digital</a:t>
            </a:r>
            <a:endParaRPr/>
          </a:p>
        </p:txBody>
      </p:sp>
      <p:sp>
        <p:nvSpPr>
          <p:cNvPr id="132" name="Google Shape;132;p4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4"/>
          <p:cNvSpPr txBox="1"/>
          <p:nvPr>
            <p:ph idx="1" type="body"/>
          </p:nvPr>
        </p:nvSpPr>
        <p:spPr>
          <a:xfrm>
            <a:off x="457200" y="914400"/>
            <a:ext cx="85716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56222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 sz="2500"/>
              <a:t>Todos as complexas operações de um computador digital acabam sendo </a:t>
            </a:r>
            <a:r>
              <a:rPr lang="en-US" sz="2500">
                <a:highlight>
                  <a:srgbClr val="FFFF00"/>
                </a:highlight>
              </a:rPr>
              <a:t>combinações de simples operações aritméticas e lógicas</a:t>
            </a:r>
            <a:r>
              <a:rPr lang="en-US" sz="2500"/>
              <a:t> básicas:</a:t>
            </a:r>
            <a:endParaRPr sz="2500"/>
          </a:p>
          <a:p>
            <a:pPr indent="-234734" lvl="3" marL="109728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58ED5"/>
              </a:buClr>
              <a:buSzPct val="76000"/>
              <a:buChar char="◻"/>
            </a:pPr>
            <a:r>
              <a:rPr lang="en-US" sz="2100"/>
              <a:t>somar bits,</a:t>
            </a:r>
            <a:endParaRPr/>
          </a:p>
          <a:p>
            <a:pPr indent="-234734" lvl="3" marL="109728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58ED5"/>
              </a:buClr>
              <a:buSzPct val="76000"/>
              <a:buChar char="◻"/>
            </a:pPr>
            <a:r>
              <a:rPr lang="en-US" sz="2100"/>
              <a:t>complementar bits (para fazer subtrações),</a:t>
            </a:r>
            <a:endParaRPr sz="2100"/>
          </a:p>
          <a:p>
            <a:pPr indent="-234734" lvl="3" marL="109728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58ED5"/>
              </a:buClr>
              <a:buSzPct val="76000"/>
              <a:buChar char="◻"/>
            </a:pPr>
            <a:r>
              <a:rPr lang="en-US" sz="2100"/>
              <a:t>comparar bits,</a:t>
            </a:r>
            <a:endParaRPr sz="2100"/>
          </a:p>
          <a:p>
            <a:pPr indent="-234734" lvl="3" marL="109728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58ED5"/>
              </a:buClr>
              <a:buSzPct val="76000"/>
              <a:buChar char="◻"/>
            </a:pPr>
            <a:r>
              <a:rPr lang="en-US" sz="2100"/>
              <a:t>mover bits.</a:t>
            </a:r>
            <a:endParaRPr sz="2100"/>
          </a:p>
          <a:p>
            <a:pPr indent="-25839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8ED5"/>
              </a:buClr>
              <a:buSzPct val="76000"/>
              <a:buChar char="?"/>
            </a:pPr>
            <a:r>
              <a:rPr lang="en-US" sz="2200"/>
              <a:t>Estas operações são fisicamente realizadas por circuitos eletrônicos, chamados </a:t>
            </a:r>
            <a:r>
              <a:rPr lang="en-US" sz="2200">
                <a:highlight>
                  <a:srgbClr val="FFFF00"/>
                </a:highlight>
              </a:rPr>
              <a:t>circuitos lógicos </a:t>
            </a:r>
            <a:r>
              <a:rPr lang="en-US" sz="2200"/>
              <a:t>(ou gates - "portas" lógicas).</a:t>
            </a:r>
            <a:endParaRPr sz="2200"/>
          </a:p>
          <a:p>
            <a:pPr indent="-25839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8ED5"/>
              </a:buClr>
              <a:buSzPct val="76000"/>
              <a:buChar char="?"/>
            </a:pPr>
            <a:r>
              <a:rPr lang="en-US" sz="2200"/>
              <a:t>Computadores são construídos com circuitos eletrônicos digitais - as portas lógicas (circuitos lógicos).</a:t>
            </a:r>
            <a:endParaRPr sz="2200"/>
          </a:p>
          <a:p>
            <a:pPr indent="-25839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8ED5"/>
              </a:buClr>
              <a:buSzPct val="76000"/>
              <a:buChar char="?"/>
            </a:pPr>
            <a:r>
              <a:rPr lang="en-US" sz="2200"/>
              <a:t>Os sistemas lógicos são estudados pela álgebra booleana, conceituada pelo matemático inglês George Boole.</a:t>
            </a:r>
            <a:endParaRPr sz="2200"/>
          </a:p>
        </p:txBody>
      </p:sp>
      <p:pic>
        <p:nvPicPr>
          <p:cNvPr id="134" name="Google Shape;1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750" y="114312"/>
            <a:ext cx="1027374" cy="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Bookman Old Style"/>
              <a:buNone/>
            </a:pPr>
            <a:r>
              <a:rPr lang="en-US"/>
              <a:t>Álgebra Booleana (trabalho no LEX)</a:t>
            </a:r>
            <a:endParaRPr/>
          </a:p>
        </p:txBody>
      </p:sp>
      <p:sp>
        <p:nvSpPr>
          <p:cNvPr id="140" name="Google Shape;140;p5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5"/>
          <p:cNvSpPr txBox="1"/>
          <p:nvPr>
            <p:ph idx="1" type="body"/>
          </p:nvPr>
        </p:nvSpPr>
        <p:spPr>
          <a:xfrm>
            <a:off x="457200" y="914400"/>
            <a:ext cx="6543300" cy="20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-251155" lvl="0" marL="27432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6000"/>
              <a:buChar char="●"/>
            </a:pPr>
            <a:r>
              <a:rPr lang="en-US"/>
              <a:t>George Boole</a:t>
            </a:r>
            <a:endParaRPr/>
          </a:p>
          <a:p>
            <a:pPr indent="-254050" lvl="1" marL="54864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6000"/>
              <a:buChar char="○"/>
            </a:pPr>
            <a:r>
              <a:rPr lang="en-US"/>
              <a:t>Matemático e filósofo britânico 1815 – 1864</a:t>
            </a:r>
            <a:endParaRPr/>
          </a:p>
          <a:p>
            <a:pPr indent="-254050" lvl="1" marL="54864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76000"/>
              <a:buChar char="○"/>
            </a:pPr>
            <a:r>
              <a:rPr lang="en-US"/>
              <a:t>influenciou na definição da Teoria da Relatividade</a:t>
            </a:r>
            <a:endParaRPr/>
          </a:p>
        </p:txBody>
      </p:sp>
      <p:pic>
        <p:nvPicPr>
          <p:cNvPr id="142" name="Google Shape;1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1500" y="914400"/>
            <a:ext cx="1685925" cy="2064397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 txBox="1"/>
          <p:nvPr/>
        </p:nvSpPr>
        <p:spPr>
          <a:xfrm>
            <a:off x="222600" y="3046950"/>
            <a:ext cx="8715600" cy="16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/>
          </a:bodyPr>
          <a:lstStyle/>
          <a:p>
            <a:pPr indent="-251155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ct val="76000"/>
              <a:buFont typeface="Noto Sans Symbols"/>
              <a:buChar char="🞂"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Boole desenvolveu sua álgebra a partir destes conceitos básicos e utilizando apenas os algarismos 0 e 1.</a:t>
            </a:r>
            <a:endParaRPr b="0" i="0" sz="3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51155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8ED5"/>
              </a:buClr>
              <a:buSzPct val="76000"/>
              <a:buFont typeface="Noto Sans Symbols"/>
              <a:buChar char="🞂"/>
            </a:pPr>
            <a:r>
              <a:rPr b="0" i="0" lang="en-US" sz="3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Os primeiros computadores fabricados trabalhavam em DECIMAL</a:t>
            </a:r>
            <a:r>
              <a:rPr b="0" i="0" lang="en-US" sz="3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.</a:t>
            </a:r>
            <a:endParaRPr b="0" i="0" sz="3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54050" lvl="1" marL="54864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58ED5"/>
              </a:buClr>
              <a:buSzPct val="76000"/>
              <a:buFont typeface="Noto Sans Symbols"/>
              <a:buChar char="🞂"/>
            </a:pPr>
            <a:r>
              <a:rPr b="0" i="0" lang="en-US" sz="2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Utilização de circuitos eletrônicos que operassem com </a:t>
            </a:r>
            <a:r>
              <a:rPr b="0" i="0" lang="en-US" sz="2800" u="none" cap="none" strike="noStrike">
                <a:solidFill>
                  <a:schemeClr val="dk2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10 diferentes níveis de tensão</a:t>
            </a:r>
            <a:r>
              <a:rPr b="0" i="0" lang="en-US" sz="2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-&gt; uma grande complexidade e construção dos computadores -&gt; um custo muito elevado.</a:t>
            </a:r>
            <a:endParaRPr b="0" i="0" sz="2800" u="none" cap="none" strike="noStrike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51155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8ED5"/>
              </a:buClr>
              <a:buSzPct val="76000"/>
              <a:buFont typeface="Noto Sans Symbols"/>
              <a:buChar char="🞂"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• Surgiu então a idéia de aplicar a álgebra de Boole, simplificando extremamente o projeto e construção dos computadores.</a:t>
            </a:r>
            <a:endParaRPr b="0" i="0" sz="3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44" name="Google Shape;14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6750" y="114312"/>
            <a:ext cx="1027374" cy="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Álgebra Booleana</a:t>
            </a:r>
            <a:endParaRPr/>
          </a:p>
        </p:txBody>
      </p:sp>
      <p:sp>
        <p:nvSpPr>
          <p:cNvPr id="150" name="Google Shape;150;p6"/>
          <p:cNvSpPr txBox="1"/>
          <p:nvPr>
            <p:ph idx="1" type="body"/>
          </p:nvPr>
        </p:nvSpPr>
        <p:spPr>
          <a:xfrm>
            <a:off x="225325" y="906650"/>
            <a:ext cx="6357600" cy="22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62737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Claude Elwood Shannon</a:t>
            </a:r>
            <a:endParaRPr/>
          </a:p>
          <a:p>
            <a:pPr indent="-2890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Char char="?"/>
            </a:pPr>
            <a:r>
              <a:rPr lang="en-US" sz="2550"/>
              <a:t>Engenheiro e Matemático (1916 – 2001)</a:t>
            </a:r>
            <a:endParaRPr sz="2550"/>
          </a:p>
          <a:p>
            <a:pPr indent="-2890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Char char="?"/>
            </a:pPr>
            <a:r>
              <a:rPr lang="en-US" sz="2550"/>
              <a:t>Trabalhou com álgebra Booleana</a:t>
            </a:r>
            <a:endParaRPr sz="2550"/>
          </a:p>
          <a:p>
            <a:pPr indent="-2890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Char char="?"/>
            </a:pPr>
            <a:r>
              <a:rPr lang="en-US" sz="2550"/>
              <a:t>Desenvolveu aplicações de circuitos elétricos</a:t>
            </a:r>
            <a:endParaRPr sz="2550"/>
          </a:p>
          <a:p>
            <a:pPr indent="-2890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Char char="?"/>
            </a:pPr>
            <a:r>
              <a:rPr lang="en-US" sz="2550"/>
              <a:t>Considerado fundador tanto do </a:t>
            </a:r>
            <a:r>
              <a:rPr lang="en-US" sz="2550">
                <a:highlight>
                  <a:srgbClr val="FFFF00"/>
                </a:highlight>
              </a:rPr>
              <a:t>computador digital </a:t>
            </a:r>
            <a:r>
              <a:rPr lang="en-US" sz="2550"/>
              <a:t>quanto do </a:t>
            </a:r>
            <a:r>
              <a:rPr lang="en-US" sz="2550">
                <a:highlight>
                  <a:srgbClr val="FFFF00"/>
                </a:highlight>
              </a:rPr>
              <a:t>projeto de circuito digital</a:t>
            </a:r>
            <a:endParaRPr sz="2550"/>
          </a:p>
        </p:txBody>
      </p:sp>
      <p:pic>
        <p:nvPicPr>
          <p:cNvPr id="151" name="Google Shape;1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750" y="114312"/>
            <a:ext cx="1027374" cy="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885162">
            <a:off x="7820236" y="3058929"/>
            <a:ext cx="1353260" cy="194432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3" name="Google Shape;153;p6">
            <a:hlinkClick r:id="rId5"/>
          </p:cNvPr>
          <p:cNvSpPr txBox="1"/>
          <p:nvPr/>
        </p:nvSpPr>
        <p:spPr>
          <a:xfrm>
            <a:off x="889225" y="3896850"/>
            <a:ext cx="4053900" cy="61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Tese demonstrando que uma aplicação elétrica utilizando álgebra booleana de 1937</a:t>
            </a:r>
            <a:endParaRPr b="0" i="1" sz="1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54" name="Google Shape;15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514475">
            <a:off x="6977155" y="1028153"/>
            <a:ext cx="2022595" cy="2022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6">
            <a:hlinkClick r:id="rId7"/>
          </p:cNvPr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06202" y="2711225"/>
            <a:ext cx="1530000" cy="215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 txBox="1"/>
          <p:nvPr/>
        </p:nvSpPr>
        <p:spPr>
          <a:xfrm>
            <a:off x="1442750" y="3070750"/>
            <a:ext cx="3792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1" lang="en-US" sz="1900" u="none" cap="none" strike="noStrike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“Shannon aplicou o valor "1" aos circuitos abertos e o valor "0" aos fechados.”</a:t>
            </a:r>
            <a:endParaRPr b="0" i="1" sz="1900" u="none" cap="none" strike="noStrike">
              <a:solidFill>
                <a:schemeClr val="dk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636400" y="4673525"/>
            <a:ext cx="532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LER: </a:t>
            </a:r>
            <a:r>
              <a:rPr b="0" i="1" lang="en-US" sz="1600" u="sng" cap="none" strike="noStrike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9"/>
              </a:rPr>
              <a:t>https://www.bbc.com/portuguese/articles/c5y2zpgj24eo</a:t>
            </a:r>
            <a:endParaRPr b="0" i="1" sz="16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58" name="Google Shape;158;p6" title="Captura de Tela 2025-05-06 às 14.09.46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13784" y="3477182"/>
            <a:ext cx="1121750" cy="110781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6"/>
          <p:cNvSpPr/>
          <p:nvPr/>
        </p:nvSpPr>
        <p:spPr>
          <a:xfrm>
            <a:off x="5810055" y="4595497"/>
            <a:ext cx="239100" cy="371700"/>
          </a:xfrm>
          <a:prstGeom prst="bentUpArrow">
            <a:avLst>
              <a:gd fmla="val 27765" name="adj1"/>
              <a:gd fmla="val 25000" name="adj2"/>
              <a:gd fmla="val 39396" name="adj3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Álgebra Booleana</a:t>
            </a:r>
            <a:endParaRPr/>
          </a:p>
        </p:txBody>
      </p:sp>
      <p:sp>
        <p:nvSpPr>
          <p:cNvPr id="165" name="Google Shape;165;p7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7"/>
          <p:cNvSpPr txBox="1"/>
          <p:nvPr>
            <p:ph idx="1" type="body"/>
          </p:nvPr>
        </p:nvSpPr>
        <p:spPr>
          <a:xfrm>
            <a:off x="457200" y="914400"/>
            <a:ext cx="88203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2"/>
              <a:buChar char="?"/>
            </a:pPr>
            <a:r>
              <a:rPr lang="en-US"/>
              <a:t>Elementos de Álgebra Booleana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28"/>
              <a:buChar char="?"/>
            </a:pPr>
            <a:r>
              <a:rPr lang="en-US"/>
              <a:t>Variáveis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58ED5"/>
              </a:buClr>
              <a:buSzPts val="2128"/>
              <a:buChar char="?"/>
            </a:pPr>
            <a:r>
              <a:rPr lang="en-US"/>
              <a:t>Funções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28"/>
              <a:buChar char="?"/>
            </a:pPr>
            <a:r>
              <a:rPr lang="en-US"/>
              <a:t>Apenas 2 símbolos (0 e 1) representando F e V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28"/>
              <a:buChar char="?"/>
            </a:pPr>
            <a:r>
              <a:rPr lang="en-US"/>
              <a:t>Funções são descritas por uma                             </a:t>
            </a:r>
            <a:r>
              <a:rPr b="1" lang="en-US"/>
              <a:t>Tabela Verdade (TV)</a:t>
            </a:r>
            <a:endParaRPr b="1"/>
          </a:p>
        </p:txBody>
      </p:sp>
      <p:pic>
        <p:nvPicPr>
          <p:cNvPr id="167" name="Google Shape;1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750" y="114312"/>
            <a:ext cx="1027374" cy="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Álgebra Booleana</a:t>
            </a:r>
            <a:endParaRPr/>
          </a:p>
        </p:txBody>
      </p:sp>
      <p:sp>
        <p:nvSpPr>
          <p:cNvPr id="173" name="Google Shape;173;p8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8"/>
          <p:cNvSpPr txBox="1"/>
          <p:nvPr>
            <p:ph idx="1" type="body"/>
          </p:nvPr>
        </p:nvSpPr>
        <p:spPr>
          <a:xfrm>
            <a:off x="457200" y="914400"/>
            <a:ext cx="82296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2"/>
              <a:buChar char="?"/>
            </a:pPr>
            <a:r>
              <a:rPr lang="en-US"/>
              <a:t>Tabela Verdade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28"/>
              <a:buChar char="?"/>
            </a:pPr>
            <a:r>
              <a:rPr lang="en-US"/>
              <a:t>Utilizada para definir uma função.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28"/>
              <a:buChar char="?"/>
            </a:pPr>
            <a:r>
              <a:rPr lang="en-US"/>
              <a:t>Apresenta todas as combinações possíveis de entradas das variáveis.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28"/>
              <a:buChar char="?"/>
            </a:pPr>
            <a:r>
              <a:rPr lang="en-US"/>
              <a:t>2</a:t>
            </a:r>
            <a:r>
              <a:rPr b="1" baseline="30000" i="1" lang="en-US">
                <a:solidFill>
                  <a:srgbClr val="0000FF"/>
                </a:solidFill>
              </a:rPr>
              <a:t>n</a:t>
            </a:r>
            <a:r>
              <a:rPr lang="en-US"/>
              <a:t> linhas.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28"/>
              <a:buChar char="?"/>
            </a:pPr>
            <a:r>
              <a:rPr i="1" lang="en-US">
                <a:solidFill>
                  <a:srgbClr val="0000FF"/>
                </a:solidFill>
              </a:rPr>
              <a:t>n</a:t>
            </a:r>
            <a:r>
              <a:rPr lang="en-US"/>
              <a:t> é o número de variáveis da função, tipicamente 2.</a:t>
            </a:r>
            <a:endParaRPr i="1"/>
          </a:p>
          <a:p>
            <a:pPr indent="-139191" lvl="1" marL="54864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baseline="30000"/>
          </a:p>
        </p:txBody>
      </p:sp>
      <p:pic>
        <p:nvPicPr>
          <p:cNvPr id="175" name="Google Shape;17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750" y="114312"/>
            <a:ext cx="1027374" cy="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Álgebra Booleana e Lógica Digital</a:t>
            </a:r>
            <a:endParaRPr/>
          </a:p>
        </p:txBody>
      </p:sp>
      <p:sp>
        <p:nvSpPr>
          <p:cNvPr id="181" name="Google Shape;181;p9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" name="Google Shape;182;p9"/>
          <p:cNvSpPr txBox="1"/>
          <p:nvPr>
            <p:ph idx="1" type="body"/>
          </p:nvPr>
        </p:nvSpPr>
        <p:spPr>
          <a:xfrm>
            <a:off x="457200" y="914400"/>
            <a:ext cx="8229600" cy="17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?"/>
            </a:pPr>
            <a:r>
              <a:rPr lang="en-US" sz="1800"/>
              <a:t>TABELA VERDADE</a:t>
            </a:r>
            <a:endParaRPr sz="1800"/>
          </a:p>
          <a:p>
            <a:pPr indent="-29403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58ED5"/>
              </a:buClr>
              <a:buSzPts val="1800"/>
              <a:buChar char="?"/>
            </a:pPr>
            <a:r>
              <a:rPr lang="en-US" sz="1800"/>
              <a:t>Tabelas que representam todas as possíveis combinações das variáveis de entrada de uma função, e os seus respectivos valores de saída.</a:t>
            </a:r>
            <a:endParaRPr sz="1800">
              <a:solidFill>
                <a:srgbClr val="1F497D"/>
              </a:solidFill>
            </a:endParaRPr>
          </a:p>
          <a:p>
            <a:pPr indent="-29403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58ED5"/>
              </a:buClr>
              <a:buSzPts val="1800"/>
              <a:buChar char="?"/>
            </a:pPr>
            <a:r>
              <a:rPr lang="en-US" sz="1800"/>
              <a:t>A seguir, apresenta-se as funções básicas, e suas representações em tabelas verdade.</a:t>
            </a:r>
            <a:endParaRPr sz="1800"/>
          </a:p>
          <a:p>
            <a:pPr indent="-29403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58ED5"/>
              </a:buClr>
              <a:buSzPts val="1800"/>
              <a:buChar char="?"/>
            </a:pPr>
            <a:r>
              <a:rPr b="1" lang="en-US" sz="1800"/>
              <a:t>AND - FUNÇÃO E</a:t>
            </a:r>
            <a:r>
              <a:rPr lang="en-US" sz="1800"/>
              <a:t> (</a:t>
            </a:r>
            <a:r>
              <a:rPr lang="en-US" sz="1800">
                <a:highlight>
                  <a:srgbClr val="FFFF00"/>
                </a:highlight>
              </a:rPr>
              <a:t>A.B</a:t>
            </a:r>
            <a:r>
              <a:rPr lang="en-US" sz="1800"/>
              <a:t> ou </a:t>
            </a:r>
            <a:r>
              <a:rPr lang="en-US" sz="1800">
                <a:highlight>
                  <a:srgbClr val="FFFF00"/>
                </a:highlight>
              </a:rPr>
              <a:t>A^B</a:t>
            </a:r>
            <a:r>
              <a:rPr lang="en-US" sz="1800"/>
              <a:t>)</a:t>
            </a:r>
            <a:endParaRPr sz="1800"/>
          </a:p>
          <a:p>
            <a:pPr indent="0" lvl="0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</a:pPr>
            <a:r>
              <a:rPr lang="en-US" sz="1800">
                <a:solidFill>
                  <a:schemeClr val="accent1"/>
                </a:solidFill>
              </a:rPr>
              <a:t>Tabela Verdade:</a:t>
            </a:r>
            <a:endParaRPr sz="1800">
              <a:solidFill>
                <a:schemeClr val="accent1"/>
              </a:solidFill>
            </a:endParaRPr>
          </a:p>
        </p:txBody>
      </p:sp>
      <p:graphicFrame>
        <p:nvGraphicFramePr>
          <p:cNvPr id="183" name="Google Shape;183;p9"/>
          <p:cNvGraphicFramePr/>
          <p:nvPr/>
        </p:nvGraphicFramePr>
        <p:xfrm>
          <a:off x="3495523" y="3014570"/>
          <a:ext cx="3000000" cy="3000000"/>
        </p:xfrm>
        <a:graphic>
          <a:graphicData uri="http://schemas.openxmlformats.org/drawingml/2006/table">
            <a:tbl>
              <a:tblPr bandRow="1" firstRow="1">
                <a:gradFill>
                  <a:gsLst>
                    <a:gs pos="0">
                      <a:srgbClr val="BACEF2"/>
                    </a:gs>
                    <a:gs pos="30000">
                      <a:srgbClr val="99B7EF"/>
                    </a:gs>
                    <a:gs pos="45000">
                      <a:srgbClr val="8EB2ED"/>
                    </a:gs>
                    <a:gs pos="55000">
                      <a:srgbClr val="8EB2ED"/>
                    </a:gs>
                    <a:gs pos="73000">
                      <a:srgbClr val="99B7EF"/>
                    </a:gs>
                    <a:gs pos="100000">
                      <a:srgbClr val="BACEF2"/>
                    </a:gs>
                  </a:gsLst>
                  <a:lin ang="950000" scaled="0"/>
                </a:gradFill>
                <a:tableStyleId>{C1AE922C-BD11-4ADB-8D8E-02891A41394A}</a:tableStyleId>
              </a:tblPr>
              <a:tblGrid>
                <a:gridCol w="745075"/>
                <a:gridCol w="745075"/>
                <a:gridCol w="74507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A.B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pic>
        <p:nvPicPr>
          <p:cNvPr id="184" name="Google Shape;18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Álgebra Booleana e Lógica Digital</a:t>
            </a:r>
            <a:endParaRPr/>
          </a:p>
        </p:txBody>
      </p:sp>
      <p:sp>
        <p:nvSpPr>
          <p:cNvPr id="190" name="Google Shape;190;p10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" name="Google Shape;191;p10"/>
          <p:cNvSpPr txBox="1"/>
          <p:nvPr>
            <p:ph idx="1" type="body"/>
          </p:nvPr>
        </p:nvSpPr>
        <p:spPr>
          <a:xfrm>
            <a:off x="69750" y="914400"/>
            <a:ext cx="5823600" cy="25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-27432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Portas Lógicas</a:t>
            </a:r>
            <a:endParaRPr/>
          </a:p>
          <a:p>
            <a:pPr indent="-274320" lvl="1" marL="54864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Elemento básico de um hardware</a:t>
            </a:r>
            <a:endParaRPr/>
          </a:p>
          <a:p>
            <a:pPr indent="-274320" lvl="1" marL="54864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Operam um ou mais sinais lógicos de entrada</a:t>
            </a:r>
            <a:endParaRPr/>
          </a:p>
          <a:p>
            <a:pPr indent="-274320" lvl="1" marL="54864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SEMPRE produzem UMA saída</a:t>
            </a:r>
            <a:endParaRPr/>
          </a:p>
          <a:p>
            <a:pPr indent="-274320" lvl="1" marL="54864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Se relacionam com os conceitos de Álgebra Booleana</a:t>
            </a:r>
            <a:endParaRPr/>
          </a:p>
        </p:txBody>
      </p:sp>
      <p:pic>
        <p:nvPicPr>
          <p:cNvPr id="192" name="Google Shape;19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10"/>
          <p:cNvGrpSpPr/>
          <p:nvPr/>
        </p:nvGrpSpPr>
        <p:grpSpPr>
          <a:xfrm>
            <a:off x="6200426" y="1070625"/>
            <a:ext cx="2934149" cy="2965269"/>
            <a:chOff x="6124226" y="1070625"/>
            <a:chExt cx="2934149" cy="2965269"/>
          </a:xfrm>
        </p:grpSpPr>
        <p:pic>
          <p:nvPicPr>
            <p:cNvPr id="194" name="Google Shape;194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43100" y="1070625"/>
              <a:ext cx="1318411" cy="643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197824" y="1771500"/>
              <a:ext cx="1334850" cy="704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532675" y="1771495"/>
              <a:ext cx="1525700" cy="643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124226" y="3314950"/>
              <a:ext cx="1482040" cy="704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675728" y="2571750"/>
              <a:ext cx="1382637" cy="643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197824" y="2533194"/>
              <a:ext cx="1334850" cy="66393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0" name="Google Shape;200;p10"/>
            <p:cNvGrpSpPr/>
            <p:nvPr/>
          </p:nvGrpSpPr>
          <p:grpSpPr>
            <a:xfrm>
              <a:off x="7699637" y="3371990"/>
              <a:ext cx="1334831" cy="663904"/>
              <a:chOff x="5706348" y="3296443"/>
              <a:chExt cx="1730176" cy="822682"/>
            </a:xfrm>
          </p:grpSpPr>
          <p:pic>
            <p:nvPicPr>
              <p:cNvPr id="201" name="Google Shape;201;p10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5706348" y="3296443"/>
                <a:ext cx="1730176" cy="8226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2" name="Google Shape;202;p10"/>
              <p:cNvSpPr/>
              <p:nvPr/>
            </p:nvSpPr>
            <p:spPr>
              <a:xfrm>
                <a:off x="6939376" y="3635332"/>
                <a:ext cx="156900" cy="160200"/>
              </a:xfrm>
              <a:prstGeom prst="ellipse">
                <a:avLst/>
              </a:prstGeom>
              <a:solidFill>
                <a:srgbClr val="CCCCCC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03" name="Google Shape;203;p10"/>
          <p:cNvSpPr txBox="1"/>
          <p:nvPr/>
        </p:nvSpPr>
        <p:spPr>
          <a:xfrm>
            <a:off x="6653975" y="1911439"/>
            <a:ext cx="59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AND</a:t>
            </a:r>
            <a:endParaRPr b="1" i="0" sz="1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4" name="Google Shape;204;p10"/>
          <p:cNvSpPr txBox="1"/>
          <p:nvPr/>
        </p:nvSpPr>
        <p:spPr>
          <a:xfrm>
            <a:off x="8038975" y="1911439"/>
            <a:ext cx="72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NAND</a:t>
            </a:r>
            <a:endParaRPr b="1" i="0" sz="1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5" name="Google Shape;205;p10"/>
          <p:cNvSpPr txBox="1"/>
          <p:nvPr/>
        </p:nvSpPr>
        <p:spPr>
          <a:xfrm>
            <a:off x="6653975" y="2673439"/>
            <a:ext cx="59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OR</a:t>
            </a:r>
            <a:endParaRPr b="1" i="0" sz="1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6" name="Google Shape;206;p10"/>
          <p:cNvSpPr txBox="1"/>
          <p:nvPr/>
        </p:nvSpPr>
        <p:spPr>
          <a:xfrm>
            <a:off x="8039782" y="2682157"/>
            <a:ext cx="72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  NOR</a:t>
            </a:r>
            <a:endParaRPr b="1" i="0" sz="1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7" name="Google Shape;207;p10"/>
          <p:cNvSpPr txBox="1"/>
          <p:nvPr/>
        </p:nvSpPr>
        <p:spPr>
          <a:xfrm>
            <a:off x="6742450" y="3510589"/>
            <a:ext cx="59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XOR</a:t>
            </a:r>
            <a:endParaRPr b="1" i="0" sz="1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8" name="Google Shape;208;p10"/>
          <p:cNvSpPr txBox="1"/>
          <p:nvPr/>
        </p:nvSpPr>
        <p:spPr>
          <a:xfrm>
            <a:off x="8203650" y="3510589"/>
            <a:ext cx="72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XNOR</a:t>
            </a:r>
            <a:endParaRPr b="1" i="0" sz="1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9" name="Google Shape;209;p10"/>
          <p:cNvSpPr txBox="1"/>
          <p:nvPr/>
        </p:nvSpPr>
        <p:spPr>
          <a:xfrm>
            <a:off x="7267575" y="1009650"/>
            <a:ext cx="59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NOT</a:t>
            </a:r>
            <a:endParaRPr b="1" i="0" sz="1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Álgebra Booleana e Lógica Digital</a:t>
            </a:r>
            <a:endParaRPr/>
          </a:p>
        </p:txBody>
      </p:sp>
      <p:sp>
        <p:nvSpPr>
          <p:cNvPr id="215" name="Google Shape;215;p11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6" name="Google Shape;216;p11"/>
          <p:cNvSpPr txBox="1"/>
          <p:nvPr>
            <p:ph idx="1" type="body"/>
          </p:nvPr>
        </p:nvSpPr>
        <p:spPr>
          <a:xfrm>
            <a:off x="457200" y="914400"/>
            <a:ext cx="82296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32"/>
              <a:buChar char="?"/>
            </a:pPr>
            <a:r>
              <a:rPr lang="en-US"/>
              <a:t>Porta Lógica NOT</a:t>
            </a:r>
            <a:endParaRPr/>
          </a:p>
          <a:p>
            <a:pPr indent="-274319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128"/>
              <a:buChar char="?"/>
            </a:pPr>
            <a:r>
              <a:rPr lang="en-US"/>
              <a:t>Inverte o sinal de entrada</a:t>
            </a:r>
            <a:endParaRPr/>
          </a:p>
          <a:p>
            <a:pPr indent="-274319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128"/>
              <a:buChar char="?"/>
            </a:pPr>
            <a:r>
              <a:rPr lang="en-US"/>
              <a:t>Realiza a negação ou complemento</a:t>
            </a:r>
            <a:endParaRPr/>
          </a:p>
          <a:p>
            <a:pPr indent="-274319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128"/>
              <a:buChar char="?"/>
            </a:pPr>
            <a:r>
              <a:rPr lang="en-US"/>
              <a:t>A = Ā</a:t>
            </a:r>
            <a:endParaRPr/>
          </a:p>
          <a:p>
            <a:pPr indent="-13919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/>
          </a:p>
        </p:txBody>
      </p:sp>
      <p:graphicFrame>
        <p:nvGraphicFramePr>
          <p:cNvPr id="217" name="Google Shape;217;p11"/>
          <p:cNvGraphicFramePr/>
          <p:nvPr/>
        </p:nvGraphicFramePr>
        <p:xfrm>
          <a:off x="3454400" y="32289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{C1AE922C-BD11-4ADB-8D8E-02891A41394A}</a:tableStyleId>
              </a:tblPr>
              <a:tblGrid>
                <a:gridCol w="1117600"/>
                <a:gridCol w="1117600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pic>
        <p:nvPicPr>
          <p:cNvPr id="218" name="Google Shape;21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6625" y="1387100"/>
            <a:ext cx="1638300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Álgebra Booleana e Lógica Digital</a:t>
            </a:r>
            <a:endParaRPr/>
          </a:p>
        </p:txBody>
      </p:sp>
      <p:sp>
        <p:nvSpPr>
          <p:cNvPr id="225" name="Google Shape;225;p12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p12"/>
          <p:cNvSpPr txBox="1"/>
          <p:nvPr>
            <p:ph idx="1" type="body"/>
          </p:nvPr>
        </p:nvSpPr>
        <p:spPr>
          <a:xfrm>
            <a:off x="457200" y="790575"/>
            <a:ext cx="8229600" cy="27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27990" lvl="0" marL="2743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Porta Lógica AND</a:t>
            </a:r>
            <a:endParaRPr/>
          </a:p>
          <a:p>
            <a:pPr indent="-23378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Implementa a operação de </a:t>
            </a:r>
            <a:r>
              <a:rPr b="1" lang="en-US"/>
              <a:t>E</a:t>
            </a:r>
            <a:r>
              <a:rPr lang="en-US"/>
              <a:t> lógico</a:t>
            </a:r>
            <a:endParaRPr/>
          </a:p>
          <a:p>
            <a:pPr indent="-23378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Produz 1 caso os sinais de entrada sejam 1</a:t>
            </a:r>
            <a:endParaRPr/>
          </a:p>
          <a:p>
            <a:pPr indent="-23378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Produz 0 caso qualquer sinal de entrada seja 0</a:t>
            </a:r>
            <a:endParaRPr/>
          </a:p>
          <a:p>
            <a:pPr indent="-13919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  <a:p>
            <a:pPr indent="-13919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graphicFrame>
        <p:nvGraphicFramePr>
          <p:cNvPr id="227" name="Google Shape;227;p12"/>
          <p:cNvGraphicFramePr/>
          <p:nvPr/>
        </p:nvGraphicFramePr>
        <p:xfrm>
          <a:off x="2187448" y="3017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{C1AE922C-BD11-4ADB-8D8E-02891A41394A}</a:tableStyleId>
              </a:tblPr>
              <a:tblGrid>
                <a:gridCol w="745075"/>
                <a:gridCol w="745075"/>
                <a:gridCol w="74507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228" name="Google Shape;228;p12"/>
          <p:cNvSpPr txBox="1"/>
          <p:nvPr/>
        </p:nvSpPr>
        <p:spPr>
          <a:xfrm>
            <a:off x="4826000" y="3017525"/>
            <a:ext cx="1981200" cy="5850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X = A.B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4798" y="3802620"/>
            <a:ext cx="1409080" cy="743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Álgebra Booleana e Lógica Digital</a:t>
            </a:r>
            <a:endParaRPr/>
          </a:p>
        </p:txBody>
      </p:sp>
      <p:sp>
        <p:nvSpPr>
          <p:cNvPr id="236" name="Google Shape;236;p13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7" name="Google Shape;237;p13"/>
          <p:cNvSpPr txBox="1"/>
          <p:nvPr>
            <p:ph idx="1" type="body"/>
          </p:nvPr>
        </p:nvSpPr>
        <p:spPr>
          <a:xfrm>
            <a:off x="457200" y="790575"/>
            <a:ext cx="8229600" cy="27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27990" lvl="0" marL="2743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Porta Lógica OR</a:t>
            </a:r>
            <a:endParaRPr/>
          </a:p>
          <a:p>
            <a:pPr indent="-23378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Implementa a operação de </a:t>
            </a:r>
            <a:r>
              <a:rPr b="1" lang="en-US"/>
              <a:t>OU</a:t>
            </a:r>
            <a:r>
              <a:rPr lang="en-US"/>
              <a:t> lógico</a:t>
            </a:r>
            <a:endParaRPr/>
          </a:p>
          <a:p>
            <a:pPr indent="-23378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Produz 1 caso qualquer entrada seja 1</a:t>
            </a:r>
            <a:endParaRPr/>
          </a:p>
          <a:p>
            <a:pPr indent="-23378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Produz 0 caso todos os sinais de entrada sejam 0</a:t>
            </a:r>
            <a:endParaRPr/>
          </a:p>
          <a:p>
            <a:pPr indent="-13919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  <a:p>
            <a:pPr indent="-13919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graphicFrame>
        <p:nvGraphicFramePr>
          <p:cNvPr id="238" name="Google Shape;238;p13"/>
          <p:cNvGraphicFramePr/>
          <p:nvPr/>
        </p:nvGraphicFramePr>
        <p:xfrm>
          <a:off x="2403348" y="29965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{C1AE922C-BD11-4ADB-8D8E-02891A41394A}</a:tableStyleId>
              </a:tblPr>
              <a:tblGrid>
                <a:gridCol w="745075"/>
                <a:gridCol w="745075"/>
                <a:gridCol w="74507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239" name="Google Shape;239;p13"/>
          <p:cNvSpPr txBox="1"/>
          <p:nvPr/>
        </p:nvSpPr>
        <p:spPr>
          <a:xfrm>
            <a:off x="5041900" y="2996575"/>
            <a:ext cx="2159100" cy="5850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X = A+B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1811" y="3682400"/>
            <a:ext cx="1819275" cy="90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Álgebra Booleana e Lógica Digital</a:t>
            </a:r>
            <a:endParaRPr/>
          </a:p>
        </p:txBody>
      </p:sp>
      <p:sp>
        <p:nvSpPr>
          <p:cNvPr id="247" name="Google Shape;247;p14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" name="Google Shape;248;p14"/>
          <p:cNvSpPr txBox="1"/>
          <p:nvPr>
            <p:ph idx="1" type="body"/>
          </p:nvPr>
        </p:nvSpPr>
        <p:spPr>
          <a:xfrm>
            <a:off x="457200" y="790575"/>
            <a:ext cx="8229600" cy="27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51155" lvl="0" marL="2743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Porta Lógica NAND</a:t>
            </a:r>
            <a:endParaRPr/>
          </a:p>
          <a:p>
            <a:pPr indent="-254050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Implementa a porta AND seguida de uma NOT</a:t>
            </a:r>
            <a:endParaRPr/>
          </a:p>
          <a:p>
            <a:pPr indent="-254050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Sua saída é o INVERSO da saída de AND</a:t>
            </a:r>
            <a:endParaRPr/>
          </a:p>
          <a:p>
            <a:pPr indent="-13919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  <a:p>
            <a:pPr indent="-13919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graphicFrame>
        <p:nvGraphicFramePr>
          <p:cNvPr id="249" name="Google Shape;249;p14"/>
          <p:cNvGraphicFramePr/>
          <p:nvPr/>
        </p:nvGraphicFramePr>
        <p:xfrm>
          <a:off x="2187448" y="27603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{C1AE922C-BD11-4ADB-8D8E-02891A41394A}</a:tableStyleId>
              </a:tblPr>
              <a:tblGrid>
                <a:gridCol w="745075"/>
                <a:gridCol w="745075"/>
                <a:gridCol w="74507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250" name="Google Shape;250;p14"/>
          <p:cNvSpPr txBox="1"/>
          <p:nvPr/>
        </p:nvSpPr>
        <p:spPr>
          <a:xfrm>
            <a:off x="4826000" y="2760350"/>
            <a:ext cx="1956300" cy="5850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X = A.B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1" name="Google Shape;251;p14"/>
          <p:cNvCxnSpPr/>
          <p:nvPr/>
        </p:nvCxnSpPr>
        <p:spPr>
          <a:xfrm>
            <a:off x="5637762" y="2855595"/>
            <a:ext cx="585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52" name="Google Shape;25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5848" y="3734045"/>
            <a:ext cx="2076450" cy="8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Álgebra Booleana e Lógica Digital</a:t>
            </a:r>
            <a:endParaRPr/>
          </a:p>
        </p:txBody>
      </p:sp>
      <p:sp>
        <p:nvSpPr>
          <p:cNvPr id="259" name="Google Shape;259;p15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0" name="Google Shape;260;p15"/>
          <p:cNvSpPr txBox="1"/>
          <p:nvPr>
            <p:ph idx="1" type="body"/>
          </p:nvPr>
        </p:nvSpPr>
        <p:spPr>
          <a:xfrm>
            <a:off x="457200" y="790575"/>
            <a:ext cx="8229600" cy="27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51155" lvl="0" marL="2743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Porta Lógica NOR</a:t>
            </a:r>
            <a:endParaRPr/>
          </a:p>
          <a:p>
            <a:pPr indent="-254050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Implementa a porta OR seguida de uma NOT</a:t>
            </a:r>
            <a:endParaRPr/>
          </a:p>
          <a:p>
            <a:pPr indent="-254050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Sua saída é o INVERSO da saída de OR</a:t>
            </a:r>
            <a:endParaRPr/>
          </a:p>
          <a:p>
            <a:pPr indent="-13919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  <a:p>
            <a:pPr indent="-13919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graphicFrame>
        <p:nvGraphicFramePr>
          <p:cNvPr id="261" name="Google Shape;261;p15"/>
          <p:cNvGraphicFramePr/>
          <p:nvPr/>
        </p:nvGraphicFramePr>
        <p:xfrm>
          <a:off x="2187448" y="27603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{C1AE922C-BD11-4ADB-8D8E-02891A41394A}</a:tableStyleId>
              </a:tblPr>
              <a:tblGrid>
                <a:gridCol w="745075"/>
                <a:gridCol w="745075"/>
                <a:gridCol w="74507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262" name="Google Shape;262;p15"/>
          <p:cNvSpPr txBox="1"/>
          <p:nvPr/>
        </p:nvSpPr>
        <p:spPr>
          <a:xfrm>
            <a:off x="4826000" y="2760350"/>
            <a:ext cx="2357400" cy="5850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X = A+B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3" name="Google Shape;263;p15"/>
          <p:cNvCxnSpPr/>
          <p:nvPr/>
        </p:nvCxnSpPr>
        <p:spPr>
          <a:xfrm>
            <a:off x="5726662" y="2855595"/>
            <a:ext cx="585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64" name="Google Shape;26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1448" y="3615170"/>
            <a:ext cx="1943100" cy="90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Álgebra Booleana e Lógica Digital</a:t>
            </a:r>
            <a:endParaRPr/>
          </a:p>
        </p:txBody>
      </p:sp>
      <p:sp>
        <p:nvSpPr>
          <p:cNvPr id="271" name="Google Shape;271;p16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2" name="Google Shape;272;p16"/>
          <p:cNvSpPr txBox="1"/>
          <p:nvPr>
            <p:ph idx="1" type="body"/>
          </p:nvPr>
        </p:nvSpPr>
        <p:spPr>
          <a:xfrm>
            <a:off x="457200" y="941525"/>
            <a:ext cx="8229600" cy="25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2"/>
              <a:buChar char="?"/>
            </a:pPr>
            <a:r>
              <a:rPr lang="en-US"/>
              <a:t>Porta Lógica XOR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28"/>
              <a:buChar char="?"/>
            </a:pPr>
            <a:r>
              <a:rPr lang="en-US"/>
              <a:t>Implementa a operação de </a:t>
            </a:r>
            <a:r>
              <a:rPr b="1" lang="en-US"/>
              <a:t>OU</a:t>
            </a:r>
            <a:r>
              <a:rPr lang="en-US"/>
              <a:t> exclusivo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28"/>
              <a:buChar char="?"/>
            </a:pPr>
            <a:r>
              <a:rPr lang="en-US"/>
              <a:t>Produz 1 quando apenas uma entrada é1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28"/>
              <a:buChar char="?"/>
            </a:pPr>
            <a:r>
              <a:rPr lang="en-US"/>
              <a:t>Produz 0 caso contrário</a:t>
            </a:r>
            <a:endParaRPr/>
          </a:p>
        </p:txBody>
      </p:sp>
      <p:graphicFrame>
        <p:nvGraphicFramePr>
          <p:cNvPr id="273" name="Google Shape;273;p16"/>
          <p:cNvGraphicFramePr/>
          <p:nvPr/>
        </p:nvGraphicFramePr>
        <p:xfrm>
          <a:off x="2327148" y="29965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{C1AE922C-BD11-4ADB-8D8E-02891A41394A}</a:tableStyleId>
              </a:tblPr>
              <a:tblGrid>
                <a:gridCol w="745075"/>
                <a:gridCol w="745075"/>
                <a:gridCol w="74507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274" name="Google Shape;274;p16"/>
          <p:cNvSpPr txBox="1"/>
          <p:nvPr/>
        </p:nvSpPr>
        <p:spPr>
          <a:xfrm>
            <a:off x="5000571" y="2937811"/>
            <a:ext cx="2071800" cy="5850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X = A+B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6"/>
          <p:cNvSpPr/>
          <p:nvPr/>
        </p:nvSpPr>
        <p:spPr>
          <a:xfrm>
            <a:off x="6134100" y="3127058"/>
            <a:ext cx="203100" cy="203700"/>
          </a:xfrm>
          <a:prstGeom prst="ellipse">
            <a:avLst/>
          </a:prstGeom>
          <a:noFill/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76" name="Google Shape;2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0573" y="3682411"/>
            <a:ext cx="1943100" cy="9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7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Álgebra Booleana e Lógica Digital</a:t>
            </a:r>
            <a:endParaRPr/>
          </a:p>
        </p:txBody>
      </p:sp>
      <p:sp>
        <p:nvSpPr>
          <p:cNvPr id="283" name="Google Shape;283;p17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4" name="Google Shape;284;p17"/>
          <p:cNvSpPr txBox="1"/>
          <p:nvPr>
            <p:ph idx="1" type="body"/>
          </p:nvPr>
        </p:nvSpPr>
        <p:spPr>
          <a:xfrm>
            <a:off x="457200" y="1057250"/>
            <a:ext cx="6403800" cy="3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527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2"/>
              <a:buChar char="?"/>
            </a:pPr>
            <a:r>
              <a:rPr lang="en-US" sz="2900"/>
              <a:t>Porta Lógica XOR</a:t>
            </a:r>
            <a:endParaRPr sz="2900"/>
          </a:p>
          <a:p>
            <a:pPr indent="-255269" lvl="1" marL="5486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8"/>
              <a:buChar char="?"/>
            </a:pPr>
            <a:r>
              <a:rPr lang="en-US" sz="2500"/>
              <a:t>Utilizada principalmente para comparação</a:t>
            </a:r>
            <a:br>
              <a:rPr lang="en-US" sz="2500"/>
            </a:br>
            <a:r>
              <a:rPr lang="en-US" sz="2500"/>
              <a:t>entre bits</a:t>
            </a:r>
            <a:endParaRPr sz="2500"/>
          </a:p>
          <a:p>
            <a:pPr indent="-255269" lvl="1" marL="5486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8"/>
              <a:buChar char="?"/>
            </a:pPr>
            <a:r>
              <a:rPr lang="en-US" sz="2500"/>
              <a:t>Produz 0 quando todos os bits são iguais</a:t>
            </a:r>
            <a:endParaRPr sz="2500"/>
          </a:p>
          <a:p>
            <a:pPr indent="-255269" lvl="1" marL="5486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8"/>
              <a:buChar char="?"/>
            </a:pPr>
            <a:r>
              <a:rPr lang="en-US" sz="2500"/>
              <a:t>Produz 1 quando pelo menos um dos bits se difere dos demais</a:t>
            </a:r>
            <a:endParaRPr sz="2500"/>
          </a:p>
          <a:p>
            <a:pPr indent="-255269" lvl="1" marL="5486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8"/>
              <a:buChar char="?"/>
            </a:pPr>
            <a:r>
              <a:rPr lang="en-US" sz="2500"/>
              <a:t>Muito utilizada em criptografia</a:t>
            </a:r>
            <a:endParaRPr sz="2500"/>
          </a:p>
        </p:txBody>
      </p:sp>
      <p:pic>
        <p:nvPicPr>
          <p:cNvPr id="285" name="Google Shape;2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13225" y="1240326"/>
            <a:ext cx="1935575" cy="92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8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Álgebra Booleana e Lógica Digital</a:t>
            </a:r>
            <a:endParaRPr/>
          </a:p>
        </p:txBody>
      </p:sp>
      <p:sp>
        <p:nvSpPr>
          <p:cNvPr id="292" name="Google Shape;292;p18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3" name="Google Shape;293;p18"/>
          <p:cNvSpPr txBox="1"/>
          <p:nvPr>
            <p:ph idx="1" type="body"/>
          </p:nvPr>
        </p:nvSpPr>
        <p:spPr>
          <a:xfrm>
            <a:off x="457200" y="876300"/>
            <a:ext cx="8229600" cy="15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62737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Porta Lógica XNOR</a:t>
            </a:r>
            <a:endParaRPr/>
          </a:p>
          <a:p>
            <a:pPr indent="-264185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Implementa a operação de </a:t>
            </a:r>
            <a:r>
              <a:rPr b="1" lang="en-US"/>
              <a:t>XOR </a:t>
            </a:r>
            <a:r>
              <a:rPr lang="en-US"/>
              <a:t>seguida de </a:t>
            </a:r>
            <a:r>
              <a:rPr b="1" lang="en-US"/>
              <a:t>NOT</a:t>
            </a:r>
            <a:endParaRPr/>
          </a:p>
          <a:p>
            <a:pPr indent="-264185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Produz 0 quando apenas uma entrada é 1</a:t>
            </a:r>
            <a:endParaRPr/>
          </a:p>
          <a:p>
            <a:pPr indent="-264185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Produz q caso contrário</a:t>
            </a:r>
            <a:endParaRPr/>
          </a:p>
        </p:txBody>
      </p:sp>
      <p:graphicFrame>
        <p:nvGraphicFramePr>
          <p:cNvPr id="294" name="Google Shape;294;p18"/>
          <p:cNvGraphicFramePr/>
          <p:nvPr/>
        </p:nvGraphicFramePr>
        <p:xfrm>
          <a:off x="2403348" y="24045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{C1AE922C-BD11-4ADB-8D8E-02891A41394A}</a:tableStyleId>
              </a:tblPr>
              <a:tblGrid>
                <a:gridCol w="745075"/>
                <a:gridCol w="745075"/>
                <a:gridCol w="74507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295" name="Google Shape;295;p18"/>
          <p:cNvSpPr txBox="1"/>
          <p:nvPr/>
        </p:nvSpPr>
        <p:spPr>
          <a:xfrm>
            <a:off x="5007029" y="2352218"/>
            <a:ext cx="2235300" cy="5850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X = A+B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8"/>
          <p:cNvSpPr/>
          <p:nvPr/>
        </p:nvSpPr>
        <p:spPr>
          <a:xfrm>
            <a:off x="6134100" y="2535008"/>
            <a:ext cx="203100" cy="203700"/>
          </a:xfrm>
          <a:prstGeom prst="ellipse">
            <a:avLst/>
          </a:prstGeom>
          <a:noFill/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297" name="Google Shape;297;p18"/>
          <p:cNvCxnSpPr/>
          <p:nvPr/>
        </p:nvCxnSpPr>
        <p:spPr>
          <a:xfrm>
            <a:off x="5929862" y="2506433"/>
            <a:ext cx="585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18"/>
          <p:cNvSpPr txBox="1"/>
          <p:nvPr/>
        </p:nvSpPr>
        <p:spPr>
          <a:xfrm>
            <a:off x="528600" y="4064700"/>
            <a:ext cx="82296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7505" lvl="0" marL="27432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1073"/>
              <a:buFont typeface="Noto Sans Symbols"/>
              <a:buChar char="🞂"/>
            </a:pPr>
            <a:r>
              <a:rPr b="0" i="0" lang="en-US" sz="138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porta XOR é usada principalmente para comparar bits</a:t>
            </a:r>
            <a:endParaRPr b="0" i="0" sz="138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6040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558ED5"/>
              </a:buClr>
              <a:buSzPts val="951"/>
              <a:buFont typeface="Noto Sans Symbols"/>
              <a:buChar char="🞂"/>
            </a:pPr>
            <a:r>
              <a:rPr b="0" i="0" lang="en-US" sz="122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produz saída 0 quando todos os bits de entrada são iguais e</a:t>
            </a:r>
            <a:endParaRPr b="0" i="0" sz="6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040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558ED5"/>
              </a:buClr>
              <a:buSzPts val="951"/>
              <a:buFont typeface="Noto Sans Symbols"/>
              <a:buChar char="🞂"/>
            </a:pPr>
            <a:r>
              <a:rPr b="0" i="0" lang="en-US" sz="122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produz saída 1 quando pelo menos um dos bits de entrada é diferente dos demais </a:t>
            </a:r>
            <a:endParaRPr b="0" i="0" sz="1220" u="none" cap="none" strike="noStrike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99" name="Google Shape;29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0" name="Google Shape;300;p18"/>
          <p:cNvGrpSpPr/>
          <p:nvPr/>
        </p:nvGrpSpPr>
        <p:grpSpPr>
          <a:xfrm>
            <a:off x="5706348" y="3296443"/>
            <a:ext cx="1730176" cy="822682"/>
            <a:chOff x="5706348" y="3296443"/>
            <a:chExt cx="1730176" cy="822682"/>
          </a:xfrm>
        </p:grpSpPr>
        <p:pic>
          <p:nvPicPr>
            <p:cNvPr id="301" name="Google Shape;301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06348" y="3296443"/>
              <a:ext cx="1730176" cy="8226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2" name="Google Shape;302;p18"/>
            <p:cNvSpPr/>
            <p:nvPr/>
          </p:nvSpPr>
          <p:spPr>
            <a:xfrm>
              <a:off x="6939376" y="3635332"/>
              <a:ext cx="156900" cy="160200"/>
            </a:xfrm>
            <a:prstGeom prst="ellipse">
              <a:avLst/>
            </a:prstGeom>
            <a:solidFill>
              <a:srgbClr val="CCCCCC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9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Lógica Digital</a:t>
            </a:r>
            <a:endParaRPr/>
          </a:p>
        </p:txBody>
      </p:sp>
      <p:sp>
        <p:nvSpPr>
          <p:cNvPr id="308" name="Google Shape;308;p19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9" name="Google Shape;309;p19"/>
          <p:cNvSpPr txBox="1"/>
          <p:nvPr>
            <p:ph idx="1" type="body"/>
          </p:nvPr>
        </p:nvSpPr>
        <p:spPr>
          <a:xfrm>
            <a:off x="457200" y="980400"/>
            <a:ext cx="8508600" cy="11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251155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Vamos imaginar um circuito chaveador com as seguintes entradas:</a:t>
            </a:r>
            <a:endParaRPr/>
          </a:p>
          <a:p>
            <a:pPr indent="-25405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58ED5"/>
              </a:buClr>
              <a:buSzPct val="76000"/>
              <a:buChar char="?"/>
            </a:pPr>
            <a:r>
              <a:rPr lang="en-US"/>
              <a:t>uma fonte de alimentação (fornece energia para o circuito)</a:t>
            </a:r>
            <a:endParaRPr/>
          </a:p>
          <a:p>
            <a:pPr indent="-25405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58ED5"/>
              </a:buClr>
              <a:buSzPct val="76000"/>
              <a:buChar char="?"/>
            </a:pPr>
            <a:r>
              <a:rPr lang="en-US"/>
              <a:t>um fio de controle (comanda a operação do circuito)</a:t>
            </a:r>
            <a:endParaRPr/>
          </a:p>
          <a:p>
            <a:pPr indent="-25405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58ED5"/>
              </a:buClr>
              <a:buSzPct val="76000"/>
              <a:buChar char="?"/>
            </a:pPr>
            <a:r>
              <a:rPr lang="en-US"/>
              <a:t>um fio de saída (conduz o resultado)</a:t>
            </a:r>
            <a:endParaRPr/>
          </a:p>
        </p:txBody>
      </p:sp>
      <p:sp>
        <p:nvSpPr>
          <p:cNvPr id="310" name="Google Shape;310;p19"/>
          <p:cNvSpPr/>
          <p:nvPr/>
        </p:nvSpPr>
        <p:spPr>
          <a:xfrm>
            <a:off x="6134100" y="3127058"/>
            <a:ext cx="203100" cy="203700"/>
          </a:xfrm>
          <a:prstGeom prst="ellipse">
            <a:avLst/>
          </a:prstGeom>
          <a:noFill/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Diagrama, Esquemático&#10;&#10;Descrição gerada automaticamente" id="311" name="Google Shape;3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4100" y="1160973"/>
            <a:ext cx="2206924" cy="1344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9"/>
          <p:cNvSpPr txBox="1"/>
          <p:nvPr/>
        </p:nvSpPr>
        <p:spPr>
          <a:xfrm>
            <a:off x="528600" y="2809200"/>
            <a:ext cx="8229600" cy="18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10000"/>
          </a:bodyPr>
          <a:lstStyle/>
          <a:p>
            <a:pPr indent="-262737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ct val="76000"/>
              <a:buFont typeface="Noto Sans Symbols"/>
              <a:buChar char="🞂"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chave permanece aberta enquanto o sinal C no fio de controle for 0 (ou Falso).</a:t>
            </a:r>
            <a:endParaRPr b="0" i="0" sz="3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62737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8ED5"/>
              </a:buClr>
              <a:buSzPct val="76000"/>
              <a:buFont typeface="Noto Sans Symbols"/>
              <a:buChar char="🞂"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Enquanto não houver um sinal (1 ou Verd.) no fio de controle, que mude a posição da chave, o sinal no fio de saída S será 0 (ou Falso).</a:t>
            </a:r>
            <a:endParaRPr b="0" i="0" sz="3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62737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8ED5"/>
              </a:buClr>
              <a:buSzPct val="76000"/>
              <a:buFont typeface="Noto Sans Symbols"/>
              <a:buChar char="🞂"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Quando for aplicado um sinal (1 ou Verd.) ao fio de controle, a chave muda de posição, tendo como resultado que o sinal na saída será então 1.</a:t>
            </a:r>
            <a:endParaRPr b="0" i="0" sz="3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62737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8ED5"/>
              </a:buClr>
              <a:buSzPct val="76000"/>
              <a:buFont typeface="Noto Sans Symbols"/>
              <a:buChar char="🞂"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posição da chave se manterá enquanto não ocorrer um novo sinal na entrada.</a:t>
            </a:r>
            <a:endParaRPr b="0" i="0" sz="2800" u="none" cap="none" strike="noStrike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13" name="Google Shape;31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0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Lógica Digital</a:t>
            </a:r>
            <a:endParaRPr/>
          </a:p>
        </p:txBody>
      </p:sp>
      <p:sp>
        <p:nvSpPr>
          <p:cNvPr id="319" name="Google Shape;319;p20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0" name="Google Shape;320;p20"/>
          <p:cNvSpPr txBox="1"/>
          <p:nvPr>
            <p:ph idx="1" type="body"/>
          </p:nvPr>
        </p:nvSpPr>
        <p:spPr>
          <a:xfrm>
            <a:off x="457200" y="980400"/>
            <a:ext cx="85086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Ligando em SÉRIE duas chaves automáticas e uma lâmpada ao circuito: </a:t>
            </a:r>
            <a:endParaRPr/>
          </a:p>
        </p:txBody>
      </p:sp>
      <p:sp>
        <p:nvSpPr>
          <p:cNvPr id="321" name="Google Shape;321;p20"/>
          <p:cNvSpPr/>
          <p:nvPr/>
        </p:nvSpPr>
        <p:spPr>
          <a:xfrm>
            <a:off x="6134100" y="3127058"/>
            <a:ext cx="203100" cy="203700"/>
          </a:xfrm>
          <a:prstGeom prst="ellipse">
            <a:avLst/>
          </a:prstGeom>
          <a:noFill/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2" name="Google Shape;322;p20"/>
          <p:cNvSpPr txBox="1"/>
          <p:nvPr/>
        </p:nvSpPr>
        <p:spPr>
          <a:xfrm>
            <a:off x="528600" y="3598950"/>
            <a:ext cx="82296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7432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ct val="76000"/>
              <a:buFont typeface="Noto Sans Symbols"/>
              <a:buChar char="🞂"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lâmpada acenderia se e somente se as DUAS chaves estivessem na posição LIGADO (ou verdadeiro), o que seria conseguido com as duas entradas A e B em estado 1. </a:t>
            </a:r>
            <a:endParaRPr b="0" i="0" sz="2800" u="none" cap="none" strike="noStrike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Diagrama, Esquemático&#10;&#10;Descrição gerada automaticamente" id="323" name="Google Shape;32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9900" y="1710400"/>
            <a:ext cx="3464409" cy="18885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4" name="Google Shape;324;p20"/>
          <p:cNvGraphicFramePr/>
          <p:nvPr/>
        </p:nvGraphicFramePr>
        <p:xfrm>
          <a:off x="4950348" y="15993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{C1AE922C-BD11-4ADB-8D8E-02891A41394A}</a:tableStyleId>
              </a:tblPr>
              <a:tblGrid>
                <a:gridCol w="745075"/>
                <a:gridCol w="745075"/>
                <a:gridCol w="74507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L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pic>
        <p:nvPicPr>
          <p:cNvPr id="325" name="Google Shape;32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1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Lógica Digital</a:t>
            </a:r>
            <a:endParaRPr/>
          </a:p>
        </p:txBody>
      </p:sp>
      <p:sp>
        <p:nvSpPr>
          <p:cNvPr id="331" name="Google Shape;331;p21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2" name="Google Shape;332;p21"/>
          <p:cNvSpPr txBox="1"/>
          <p:nvPr>
            <p:ph idx="1" type="body"/>
          </p:nvPr>
        </p:nvSpPr>
        <p:spPr>
          <a:xfrm>
            <a:off x="457200" y="980400"/>
            <a:ext cx="85086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Ligando em PARALELO duas chaves automáticas e uma lâmpada ao circuito: </a:t>
            </a:r>
            <a:endParaRPr/>
          </a:p>
        </p:txBody>
      </p:sp>
      <p:sp>
        <p:nvSpPr>
          <p:cNvPr id="333" name="Google Shape;333;p21"/>
          <p:cNvSpPr/>
          <p:nvPr/>
        </p:nvSpPr>
        <p:spPr>
          <a:xfrm>
            <a:off x="6134100" y="3127058"/>
            <a:ext cx="203100" cy="203700"/>
          </a:xfrm>
          <a:prstGeom prst="ellipse">
            <a:avLst/>
          </a:prstGeom>
          <a:noFill/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4" name="Google Shape;334;p21"/>
          <p:cNvSpPr txBox="1"/>
          <p:nvPr/>
        </p:nvSpPr>
        <p:spPr>
          <a:xfrm>
            <a:off x="528600" y="3598950"/>
            <a:ext cx="85086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7432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ct val="76000"/>
              <a:buFont typeface="Noto Sans Symbols"/>
              <a:buChar char="🞂"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lâmpada acenderia SE QUALQUER UMA DAS CHAVES estivesse na posição LIGADO, o que seria conseguido com uma das duas entradas A ou B em estado 1. </a:t>
            </a:r>
            <a:endParaRPr b="0" i="0" sz="2800" u="none" cap="none" strike="noStrike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335" name="Google Shape;335;p21"/>
          <p:cNvGraphicFramePr/>
          <p:nvPr/>
        </p:nvGraphicFramePr>
        <p:xfrm>
          <a:off x="4950348" y="15993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{C1AE922C-BD11-4ADB-8D8E-02891A41394A}</a:tableStyleId>
              </a:tblPr>
              <a:tblGrid>
                <a:gridCol w="745075"/>
                <a:gridCol w="745075"/>
                <a:gridCol w="74507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L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pic>
        <p:nvPicPr>
          <p:cNvPr descr="Diagrama&#10;&#10;Descrição gerada automaticamente" id="336" name="Google Shape;3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8400" y="1621298"/>
            <a:ext cx="2745376" cy="204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2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Lógica Digital</a:t>
            </a:r>
            <a:endParaRPr/>
          </a:p>
        </p:txBody>
      </p:sp>
      <p:sp>
        <p:nvSpPr>
          <p:cNvPr id="343" name="Google Shape;343;p22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4" name="Google Shape;344;p22"/>
          <p:cNvSpPr txBox="1"/>
          <p:nvPr/>
        </p:nvSpPr>
        <p:spPr>
          <a:xfrm>
            <a:off x="528700" y="1145038"/>
            <a:ext cx="49800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1600"/>
              <a:buFont typeface="Gill Sans"/>
              <a:buChar char="🞂"/>
            </a:pPr>
            <a:r>
              <a:rPr b="0" i="0" lang="en-U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PORTA LÓGICA OU GATE</a:t>
            </a:r>
            <a:endParaRPr b="0" i="0" sz="16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1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1600"/>
              <a:buFont typeface="Gill Sans"/>
              <a:buChar char="🞂"/>
            </a:pPr>
            <a:r>
              <a:rPr b="0" i="0" lang="en-US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São dispositivos ou circuitos lógicos que operam um ou mais sinais lógicos de entrada para produzir uma única saída.</a:t>
            </a:r>
            <a:endParaRPr b="0" i="0" sz="1600" u="none" cap="none" strike="noStrike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1600"/>
              <a:buFont typeface="Gill Sans"/>
              <a:buChar char="🞂"/>
            </a:pPr>
            <a:r>
              <a:rPr b="0" i="0" lang="en-U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Um computador é constituído de uma infinidade de circuitos lógicos, que executam as seguintes  funções básicas:</a:t>
            </a:r>
            <a:endParaRPr b="0" i="0" sz="1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1465" lvl="1" marL="5486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8ED5"/>
              </a:buClr>
              <a:buSzPts val="1600"/>
              <a:buFont typeface="Gill Sans"/>
              <a:buChar char="🞂"/>
            </a:pPr>
            <a:r>
              <a:rPr b="0" i="0" lang="en-US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realizam operações matemáticas</a:t>
            </a:r>
            <a:endParaRPr b="0" i="0" sz="1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1465" lvl="1" marL="5486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8ED5"/>
              </a:buClr>
              <a:buSzPts val="1600"/>
              <a:buFont typeface="Gill Sans"/>
              <a:buChar char="🞂"/>
            </a:pPr>
            <a:r>
              <a:rPr b="0" i="0" lang="en-US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controlam o fluxo dos sinais</a:t>
            </a:r>
            <a:endParaRPr b="0" i="0" sz="1600" u="none" cap="none" strike="noStrike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1465" lvl="1" marL="5486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8ED5"/>
              </a:buClr>
              <a:buSzPts val="1600"/>
              <a:buFont typeface="Gill Sans"/>
              <a:buChar char="🞂"/>
            </a:pPr>
            <a:r>
              <a:rPr b="0" i="0" lang="en-US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armazenam dados</a:t>
            </a:r>
            <a:endParaRPr b="0" i="0" sz="1600" u="none" cap="none" strike="noStrike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8ED5"/>
              </a:buClr>
              <a:buSzPts val="1600"/>
              <a:buFont typeface="Gill Sans"/>
              <a:buChar char="🞂"/>
            </a:pPr>
            <a:r>
              <a:rPr b="0" i="0" lang="en-U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Existem dois tipos de circuitos lógicos:</a:t>
            </a:r>
            <a:endParaRPr b="0" i="0" sz="16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8ED5"/>
              </a:buClr>
              <a:buSzPts val="1600"/>
              <a:buFont typeface="Gill Sans"/>
              <a:buChar char="🞂"/>
            </a:pPr>
            <a:r>
              <a:rPr b="0" i="0" lang="en-US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COMBINACIONAL (a e b).</a:t>
            </a:r>
            <a:endParaRPr b="0" i="0" sz="1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8ED5"/>
              </a:buClr>
              <a:buSzPts val="1600"/>
              <a:buFont typeface="Gill Sans"/>
              <a:buChar char="🞂"/>
            </a:pPr>
            <a:r>
              <a:rPr b="0" i="0" lang="en-US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SEQUENCIAL (c).</a:t>
            </a:r>
            <a:endParaRPr b="0" i="0" sz="1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45" name="Google Shape;34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7575" y="2807200"/>
            <a:ext cx="4238850" cy="151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3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Lógica Digital</a:t>
            </a:r>
            <a:endParaRPr/>
          </a:p>
        </p:txBody>
      </p:sp>
      <p:sp>
        <p:nvSpPr>
          <p:cNvPr id="352" name="Google Shape;352;p23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" name="Google Shape;353;p23"/>
          <p:cNvSpPr txBox="1"/>
          <p:nvPr>
            <p:ph idx="1" type="body"/>
          </p:nvPr>
        </p:nvSpPr>
        <p:spPr>
          <a:xfrm>
            <a:off x="457200" y="980400"/>
            <a:ext cx="8508600" cy="20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0037" lvl="0" marL="27432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2"/>
              <a:buChar char="?"/>
            </a:pPr>
            <a:r>
              <a:rPr lang="en-US" sz="2040"/>
              <a:t>Exemplo de circuitos utilizando portas lógicas:</a:t>
            </a:r>
            <a:endParaRPr sz="2040"/>
          </a:p>
          <a:p>
            <a:pPr indent="-251485" lvl="1" marL="54864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558ED5"/>
              </a:buClr>
              <a:buSzPts val="1290"/>
              <a:buChar char="?"/>
            </a:pPr>
            <a:r>
              <a:rPr lang="en-US" sz="1760"/>
              <a:t>Uma campainha que toca (saída), se o motorista der a partida no motor do carro (entrada) sem estar com o cinto de segurança afivelado (entrada).</a:t>
            </a:r>
            <a:endParaRPr sz="1760"/>
          </a:p>
          <a:p>
            <a:pPr indent="-251485" lvl="1" marL="54864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558ED5"/>
              </a:buClr>
              <a:buSzPts val="1290"/>
              <a:buChar char="?"/>
            </a:pPr>
            <a:r>
              <a:rPr lang="en-US" sz="1760"/>
              <a:t>Se a ignição for acionada (1) e o cinto estiver desafivelado (1), a campainhaé acionada (1). Caso contrário, a campainha não toca.</a:t>
            </a:r>
            <a:endParaRPr sz="1760"/>
          </a:p>
          <a:p>
            <a:pPr indent="-251485" lvl="1" marL="54864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558ED5"/>
              </a:buClr>
              <a:buSzPts val="1290"/>
              <a:buChar char="?"/>
            </a:pPr>
            <a:r>
              <a:rPr lang="en-US" sz="1760"/>
              <a:t>Basta incluir uma porta AND.</a:t>
            </a:r>
            <a:endParaRPr sz="1760"/>
          </a:p>
          <a:p>
            <a:pPr indent="0" lvl="0" marL="4572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</a:pPr>
            <a:r>
              <a:rPr lang="en-US" sz="1760"/>
              <a:t>Tabela Verdade:</a:t>
            </a:r>
            <a:endParaRPr sz="1760"/>
          </a:p>
        </p:txBody>
      </p:sp>
      <p:graphicFrame>
        <p:nvGraphicFramePr>
          <p:cNvPr id="354" name="Google Shape;354;p23"/>
          <p:cNvGraphicFramePr/>
          <p:nvPr/>
        </p:nvGraphicFramePr>
        <p:xfrm>
          <a:off x="1584000" y="29025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{C1AE922C-BD11-4ADB-8D8E-02891A41394A}</a:tableStyleId>
              </a:tblPr>
              <a:tblGrid>
                <a:gridCol w="1912125"/>
                <a:gridCol w="1912125"/>
                <a:gridCol w="191212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Ignição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Cinto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Campainha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pic>
        <p:nvPicPr>
          <p:cNvPr id="355" name="Google Shape;35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4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Lógica Digital</a:t>
            </a:r>
            <a:endParaRPr/>
          </a:p>
        </p:txBody>
      </p:sp>
      <p:sp>
        <p:nvSpPr>
          <p:cNvPr id="361" name="Google Shape;361;p24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2" name="Google Shape;362;p24"/>
          <p:cNvSpPr txBox="1"/>
          <p:nvPr>
            <p:ph idx="1" type="body"/>
          </p:nvPr>
        </p:nvSpPr>
        <p:spPr>
          <a:xfrm>
            <a:off x="457200" y="980400"/>
            <a:ext cx="8508600" cy="18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51155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▫ Detector de incêndio com vários sensores (entradas) e uma campainha para alarme (saída).</a:t>
            </a:r>
            <a:endParaRPr/>
          </a:p>
          <a:p>
            <a:pPr indent="-251155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8ED5"/>
              </a:buClr>
              <a:buSzPct val="76000"/>
              <a:buChar char="?"/>
            </a:pPr>
            <a:r>
              <a:rPr lang="en-US"/>
              <a:t>▫ Se QUALQUER UM dos sensores for acionado (significando que um dos sensores detecta sinal de incêndio), a campainha é ACIONADA.</a:t>
            </a:r>
            <a:endParaRPr/>
          </a:p>
          <a:p>
            <a:pPr indent="-251155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8ED5"/>
              </a:buClr>
              <a:buSzPct val="76000"/>
              <a:buChar char="?"/>
            </a:pPr>
            <a:r>
              <a:rPr lang="en-US"/>
              <a:t>▫ Basta incluir uma porta OR.</a:t>
            </a:r>
            <a:endParaRPr/>
          </a:p>
          <a:p>
            <a:pPr indent="-251155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8ED5"/>
              </a:buClr>
              <a:buSzPct val="76000"/>
              <a:buChar char="?"/>
            </a:pPr>
            <a:r>
              <a:rPr lang="en-US"/>
              <a:t>▫ Tabela verdade:</a:t>
            </a:r>
            <a:endParaRPr/>
          </a:p>
        </p:txBody>
      </p:sp>
      <p:graphicFrame>
        <p:nvGraphicFramePr>
          <p:cNvPr id="363" name="Google Shape;363;p24"/>
          <p:cNvGraphicFramePr/>
          <p:nvPr/>
        </p:nvGraphicFramePr>
        <p:xfrm>
          <a:off x="1584000" y="29025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{C1AE922C-BD11-4ADB-8D8E-02891A41394A}</a:tableStyleId>
              </a:tblPr>
              <a:tblGrid>
                <a:gridCol w="1912125"/>
                <a:gridCol w="1912125"/>
                <a:gridCol w="191212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Sensor 1</a:t>
                      </a:r>
                      <a:endParaRPr sz="18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Sensor 2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Campainha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pic>
        <p:nvPicPr>
          <p:cNvPr id="364" name="Google Shape;36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5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Expressão ou Função Booleana</a:t>
            </a:r>
            <a:endParaRPr/>
          </a:p>
        </p:txBody>
      </p:sp>
      <p:sp>
        <p:nvSpPr>
          <p:cNvPr id="370" name="Google Shape;370;p25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1" name="Google Shape;371;p25"/>
          <p:cNvSpPr txBox="1"/>
          <p:nvPr>
            <p:ph idx="1" type="body"/>
          </p:nvPr>
        </p:nvSpPr>
        <p:spPr>
          <a:xfrm>
            <a:off x="457200" y="912900"/>
            <a:ext cx="7981500" cy="17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lang="en-US" sz="2040"/>
              <a:t>Uma</a:t>
            </a:r>
            <a:r>
              <a:rPr b="1" lang="en-US" sz="2040"/>
              <a:t> expressão ou função lógica</a:t>
            </a:r>
            <a:r>
              <a:rPr lang="en-US" sz="2040"/>
              <a:t> pode ser definida como uma expressão algébrica formada por variáveis lógicas (binárias), por símbolos representativos de uma operação lógica (+, . , etc), por parâmetros (as vezes) e por um sinal de igualdade. </a:t>
            </a:r>
            <a:endParaRPr sz="2040"/>
          </a:p>
          <a:p>
            <a:pPr indent="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</a:pPr>
            <a:r>
              <a:rPr lang="en-US" sz="1760"/>
              <a:t>Exemplo</a:t>
            </a:r>
            <a:endParaRPr sz="1760"/>
          </a:p>
        </p:txBody>
      </p:sp>
      <p:pic>
        <p:nvPicPr>
          <p:cNvPr descr="Diagrama&#10;&#10;Descrição gerada automaticamente" id="372" name="Google Shape;37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400" y="2496840"/>
            <a:ext cx="5142150" cy="2127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6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Expressão ou Função Booleana</a:t>
            </a:r>
            <a:endParaRPr/>
          </a:p>
        </p:txBody>
      </p:sp>
      <p:sp>
        <p:nvSpPr>
          <p:cNvPr id="379" name="Google Shape;379;p26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0" name="Google Shape;380;p26"/>
          <p:cNvSpPr txBox="1"/>
          <p:nvPr>
            <p:ph idx="1" type="body"/>
          </p:nvPr>
        </p:nvSpPr>
        <p:spPr>
          <a:xfrm>
            <a:off x="457200" y="723900"/>
            <a:ext cx="8229600" cy="38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10000"/>
          </a:bodyPr>
          <a:lstStyle/>
          <a:p>
            <a:pPr indent="-216408" lvl="0" marL="2743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Expressão ou Função Booleana</a:t>
            </a:r>
            <a:endParaRPr/>
          </a:p>
          <a:p>
            <a:pPr indent="-223646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Descreve uma função ou operação a ser realizada</a:t>
            </a:r>
            <a:endParaRPr/>
          </a:p>
          <a:p>
            <a:pPr indent="-223646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A partir de uma tabela verdade, podemos obter uma soma de produtos para implementar o circuito</a:t>
            </a:r>
            <a:endParaRPr/>
          </a:p>
          <a:p>
            <a:pPr indent="-223646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b="1" lang="en-US"/>
              <a:t>Produto:</a:t>
            </a:r>
            <a:r>
              <a:rPr lang="en-US"/>
              <a:t> porta lógica AND</a:t>
            </a:r>
            <a:endParaRPr/>
          </a:p>
          <a:p>
            <a:pPr indent="-223646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b="1" lang="en-US"/>
              <a:t>Soma:</a:t>
            </a:r>
            <a:r>
              <a:rPr lang="en-US"/>
              <a:t> porta lógica OR</a:t>
            </a:r>
            <a:endParaRPr/>
          </a:p>
          <a:p>
            <a:pPr indent="-223646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Nomes para facilitar a discussão</a:t>
            </a:r>
            <a:endParaRPr/>
          </a:p>
          <a:p>
            <a:pPr indent="-13919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  <a:p>
            <a:pPr indent="-13919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sp>
        <p:nvSpPr>
          <p:cNvPr id="381" name="Google Shape;381;p26"/>
          <p:cNvSpPr/>
          <p:nvPr/>
        </p:nvSpPr>
        <p:spPr>
          <a:xfrm>
            <a:off x="6134100" y="3127058"/>
            <a:ext cx="203100" cy="203700"/>
          </a:xfrm>
          <a:prstGeom prst="ellipse">
            <a:avLst/>
          </a:prstGeom>
          <a:noFill/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82" name="Google Shape;38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7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Expressão ou Função Booleana</a:t>
            </a:r>
            <a:endParaRPr/>
          </a:p>
        </p:txBody>
      </p:sp>
      <p:sp>
        <p:nvSpPr>
          <p:cNvPr id="388" name="Google Shape;388;p27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9" name="Google Shape;389;p27"/>
          <p:cNvSpPr txBox="1"/>
          <p:nvPr>
            <p:ph idx="1" type="body"/>
          </p:nvPr>
        </p:nvSpPr>
        <p:spPr>
          <a:xfrm>
            <a:off x="520200" y="4196550"/>
            <a:ext cx="8229600" cy="5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/>
          </a:bodyPr>
          <a:lstStyle/>
          <a:p>
            <a:pPr indent="-251155" lvl="0" marL="27432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A prioridade de cálculo de uma operação AND é maior do que a do cálculo de uma operação OR.</a:t>
            </a:r>
            <a:endParaRPr/>
          </a:p>
        </p:txBody>
      </p:sp>
      <p:pic>
        <p:nvPicPr>
          <p:cNvPr id="390" name="Google Shape;39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400" y="1107150"/>
            <a:ext cx="5841100" cy="300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Tabela&#10;&#10;Descrição gerada automaticamente" id="391" name="Google Shape;39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0600" y="995408"/>
            <a:ext cx="1981200" cy="3063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8"/>
          <p:cNvSpPr/>
          <p:nvPr/>
        </p:nvSpPr>
        <p:spPr>
          <a:xfrm>
            <a:off x="244100" y="2101000"/>
            <a:ext cx="8648100" cy="300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8"/>
          <p:cNvSpPr/>
          <p:nvPr/>
        </p:nvSpPr>
        <p:spPr>
          <a:xfrm>
            <a:off x="7289800" y="2286000"/>
            <a:ext cx="1104900" cy="438600"/>
          </a:xfrm>
          <a:prstGeom prst="rect">
            <a:avLst/>
          </a:prstGeom>
          <a:solidFill>
            <a:srgbClr val="B6DDE7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43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0" name="Google Shape;400;p28"/>
          <p:cNvSpPr/>
          <p:nvPr/>
        </p:nvSpPr>
        <p:spPr>
          <a:xfrm>
            <a:off x="5937250" y="2286000"/>
            <a:ext cx="1104900" cy="438600"/>
          </a:xfrm>
          <a:prstGeom prst="rect">
            <a:avLst/>
          </a:prstGeom>
          <a:solidFill>
            <a:srgbClr val="FBD4B4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43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1" name="Google Shape;401;p28"/>
          <p:cNvSpPr/>
          <p:nvPr/>
        </p:nvSpPr>
        <p:spPr>
          <a:xfrm>
            <a:off x="4508500" y="2286000"/>
            <a:ext cx="1104900" cy="438600"/>
          </a:xfrm>
          <a:prstGeom prst="rect">
            <a:avLst/>
          </a:prstGeom>
          <a:solidFill>
            <a:srgbClr val="FFF8CC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43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2" name="Google Shape;402;p28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Expressão ou Função Booleana</a:t>
            </a:r>
            <a:endParaRPr/>
          </a:p>
        </p:txBody>
      </p:sp>
      <p:sp>
        <p:nvSpPr>
          <p:cNvPr id="403" name="Google Shape;403;p28"/>
          <p:cNvSpPr txBox="1"/>
          <p:nvPr>
            <p:ph idx="12" type="sldNum"/>
          </p:nvPr>
        </p:nvSpPr>
        <p:spPr>
          <a:xfrm>
            <a:off x="148200" y="4767275"/>
            <a:ext cx="244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4" name="Google Shape;404;p28"/>
          <p:cNvSpPr txBox="1"/>
          <p:nvPr>
            <p:ph idx="1" type="body"/>
          </p:nvPr>
        </p:nvSpPr>
        <p:spPr>
          <a:xfrm>
            <a:off x="457200" y="723900"/>
            <a:ext cx="8229600" cy="17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2"/>
              <a:buChar char="?"/>
            </a:pPr>
            <a:r>
              <a:rPr lang="en-US"/>
              <a:t>Soma de produtos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8"/>
              <a:buChar char="?"/>
            </a:pPr>
            <a:r>
              <a:rPr lang="en-US"/>
              <a:t>Gera-se um produto para cada saída igual a 1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8"/>
              <a:buChar char="?"/>
            </a:pPr>
            <a:r>
              <a:rPr lang="en-US"/>
              <a:t>Entrada com valor 0 é complementada</a:t>
            </a:r>
            <a:endParaRPr/>
          </a:p>
        </p:txBody>
      </p:sp>
      <p:sp>
        <p:nvSpPr>
          <p:cNvPr id="405" name="Google Shape;405;p28"/>
          <p:cNvSpPr/>
          <p:nvPr/>
        </p:nvSpPr>
        <p:spPr>
          <a:xfrm>
            <a:off x="6286500" y="2822258"/>
            <a:ext cx="203100" cy="203700"/>
          </a:xfrm>
          <a:prstGeom prst="ellipse">
            <a:avLst/>
          </a:prstGeom>
          <a:noFill/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406" name="Google Shape;406;p28"/>
          <p:cNvGraphicFramePr/>
          <p:nvPr/>
        </p:nvGraphicFramePr>
        <p:xfrm>
          <a:off x="1146048" y="21688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{C1AE922C-BD11-4ADB-8D8E-02891A41394A}</a:tableStyleId>
              </a:tblPr>
              <a:tblGrid>
                <a:gridCol w="558800"/>
                <a:gridCol w="558800"/>
                <a:gridCol w="558800"/>
                <a:gridCol w="558800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S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CC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D4B4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D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D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D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DE7"/>
                    </a:solidFill>
                  </a:tcPr>
                </a:tc>
              </a:tr>
            </a:tbl>
          </a:graphicData>
        </a:graphic>
      </p:graphicFrame>
      <p:sp>
        <p:nvSpPr>
          <p:cNvPr id="407" name="Google Shape;407;p28"/>
          <p:cNvSpPr txBox="1"/>
          <p:nvPr/>
        </p:nvSpPr>
        <p:spPr>
          <a:xfrm>
            <a:off x="3834229" y="2268564"/>
            <a:ext cx="4881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 = A.B.C + A.B.C + A.B.C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8" name="Google Shape;408;p28"/>
          <p:cNvCxnSpPr/>
          <p:nvPr/>
        </p:nvCxnSpPr>
        <p:spPr>
          <a:xfrm>
            <a:off x="4597400" y="238125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9" name="Google Shape;409;p28"/>
          <p:cNvCxnSpPr/>
          <p:nvPr/>
        </p:nvCxnSpPr>
        <p:spPr>
          <a:xfrm>
            <a:off x="6705600" y="2381250"/>
            <a:ext cx="228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0" name="Google Shape;410;p28"/>
          <p:cNvCxnSpPr/>
          <p:nvPr/>
        </p:nvCxnSpPr>
        <p:spPr>
          <a:xfrm flipH="1" rot="10800000">
            <a:off x="3381248" y="2724428"/>
            <a:ext cx="1737000" cy="696000"/>
          </a:xfrm>
          <a:prstGeom prst="bentConnector3">
            <a:avLst>
              <a:gd fmla="val 99714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5400">
              <a:srgbClr val="000000">
                <a:alpha val="40000"/>
              </a:srgbClr>
            </a:outerShdw>
          </a:effectLst>
        </p:spPr>
      </p:cxnSp>
      <p:cxnSp>
        <p:nvCxnSpPr>
          <p:cNvPr id="411" name="Google Shape;411;p28"/>
          <p:cNvCxnSpPr/>
          <p:nvPr/>
        </p:nvCxnSpPr>
        <p:spPr>
          <a:xfrm flipH="1" rot="10800000">
            <a:off x="3381248" y="2724550"/>
            <a:ext cx="3197400" cy="1516500"/>
          </a:xfrm>
          <a:prstGeom prst="bentConnector3">
            <a:avLst>
              <a:gd fmla="val 99649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5400">
              <a:srgbClr val="000000">
                <a:alpha val="40000"/>
              </a:srgbClr>
            </a:outerShdw>
          </a:effectLst>
        </p:spPr>
      </p:cxnSp>
      <p:cxnSp>
        <p:nvCxnSpPr>
          <p:cNvPr id="412" name="Google Shape;412;p28"/>
          <p:cNvCxnSpPr/>
          <p:nvPr/>
        </p:nvCxnSpPr>
        <p:spPr>
          <a:xfrm flipH="1" rot="10800000">
            <a:off x="3381248" y="2724473"/>
            <a:ext cx="4530900" cy="1864500"/>
          </a:xfrm>
          <a:prstGeom prst="bentConnector3">
            <a:avLst>
              <a:gd fmla="val 99892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dir="5400000" dist="25400">
              <a:srgbClr val="000000">
                <a:alpha val="40000"/>
              </a:srgbClr>
            </a:outerShdw>
          </a:effectLst>
        </p:spPr>
      </p:cxnSp>
      <p:pic>
        <p:nvPicPr>
          <p:cNvPr id="413" name="Google Shape;41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" name="Google Shape;419;p29"/>
          <p:cNvGraphicFramePr/>
          <p:nvPr/>
        </p:nvGraphicFramePr>
        <p:xfrm>
          <a:off x="549148" y="16449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{C1AE922C-BD11-4ADB-8D8E-02891A41394A}</a:tableStyleId>
              </a:tblPr>
              <a:tblGrid>
                <a:gridCol w="498500"/>
                <a:gridCol w="498500"/>
                <a:gridCol w="498500"/>
                <a:gridCol w="498500"/>
                <a:gridCol w="498500"/>
                <a:gridCol w="498500"/>
                <a:gridCol w="498500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S1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S2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S3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S4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</a:tbl>
          </a:graphicData>
        </a:graphic>
      </p:graphicFrame>
      <p:sp>
        <p:nvSpPr>
          <p:cNvPr id="420" name="Google Shape;420;p29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Exercício</a:t>
            </a:r>
            <a:endParaRPr/>
          </a:p>
        </p:txBody>
      </p:sp>
      <p:sp>
        <p:nvSpPr>
          <p:cNvPr id="421" name="Google Shape;421;p29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2" name="Google Shape;422;p29"/>
          <p:cNvSpPr txBox="1"/>
          <p:nvPr>
            <p:ph idx="1" type="body"/>
          </p:nvPr>
        </p:nvSpPr>
        <p:spPr>
          <a:xfrm>
            <a:off x="457200" y="876300"/>
            <a:ext cx="8229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lang="en-US"/>
              <a:t>Monte as funções para S1, S2, S3 e S4</a:t>
            </a:r>
            <a:endParaRPr/>
          </a:p>
        </p:txBody>
      </p:sp>
      <p:sp>
        <p:nvSpPr>
          <p:cNvPr id="423" name="Google Shape;423;p29"/>
          <p:cNvSpPr txBox="1"/>
          <p:nvPr/>
        </p:nvSpPr>
        <p:spPr>
          <a:xfrm>
            <a:off x="4167466" y="1644968"/>
            <a:ext cx="468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S1 = A'.B'.C' + A'.B.C' + A'.B.C + A.B'.C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9"/>
          <p:cNvSpPr txBox="1"/>
          <p:nvPr/>
        </p:nvSpPr>
        <p:spPr>
          <a:xfrm>
            <a:off x="4159902" y="2182208"/>
            <a:ext cx="468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S2 = A'.B'.C + A'.B.C + A.B'.C' + A.B.C'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9"/>
          <p:cNvSpPr txBox="1"/>
          <p:nvPr/>
        </p:nvSpPr>
        <p:spPr>
          <a:xfrm>
            <a:off x="4168200" y="2747525"/>
            <a:ext cx="494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S3 = A'.B'.C' + A'.B'.C + A'.B.C + A.B'.C'</a:t>
            </a: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+ A.B.C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9"/>
          <p:cNvSpPr txBox="1"/>
          <p:nvPr/>
        </p:nvSpPr>
        <p:spPr>
          <a:xfrm>
            <a:off x="4167473" y="3335254"/>
            <a:ext cx="468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S4 = A'.B'.C' + A'.B'.C + A'.B.C' + A.B.C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7" name="Google Shape;42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0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Exercício</a:t>
            </a:r>
            <a:endParaRPr/>
          </a:p>
        </p:txBody>
      </p:sp>
      <p:sp>
        <p:nvSpPr>
          <p:cNvPr id="434" name="Google Shape;434;p30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5" name="Google Shape;435;p30"/>
          <p:cNvSpPr txBox="1"/>
          <p:nvPr>
            <p:ph idx="1" type="body"/>
          </p:nvPr>
        </p:nvSpPr>
        <p:spPr>
          <a:xfrm>
            <a:off x="457200" y="936775"/>
            <a:ext cx="8686800" cy="3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202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50"/>
              <a:buChar char="?"/>
            </a:pPr>
            <a:r>
              <a:rPr lang="en-US" sz="2760"/>
              <a:t>Considere uma função lógica com 3 entradas: A, B e C. As saídas são D, E e F.  A função é definida como:</a:t>
            </a:r>
            <a:endParaRPr sz="2760"/>
          </a:p>
          <a:p>
            <a:pPr indent="-259054" lvl="1" marL="5486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8"/>
              <a:buChar char="?"/>
            </a:pPr>
            <a:r>
              <a:rPr lang="en-US" sz="2190"/>
              <a:t>Saída D é verdadeira se </a:t>
            </a:r>
            <a:r>
              <a:rPr lang="en-US" sz="2190">
                <a:highlight>
                  <a:srgbClr val="FFFF00"/>
                </a:highlight>
              </a:rPr>
              <a:t>pelo menos uma entrada for verdadeira</a:t>
            </a:r>
            <a:endParaRPr sz="2190">
              <a:highlight>
                <a:srgbClr val="FFFF00"/>
              </a:highlight>
            </a:endParaRPr>
          </a:p>
          <a:p>
            <a:pPr indent="-259054" lvl="1" marL="5486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8"/>
              <a:buChar char="?"/>
            </a:pPr>
            <a:r>
              <a:rPr lang="en-US" sz="2190"/>
              <a:t>Saída E é verdadeira </a:t>
            </a:r>
            <a:r>
              <a:rPr lang="en-US" sz="2190">
                <a:highlight>
                  <a:srgbClr val="FFFF00"/>
                </a:highlight>
              </a:rPr>
              <a:t>se exatamente 2 entradas forem verdadeiras</a:t>
            </a:r>
            <a:endParaRPr sz="2190">
              <a:highlight>
                <a:srgbClr val="FFFF00"/>
              </a:highlight>
            </a:endParaRPr>
          </a:p>
          <a:p>
            <a:pPr indent="-259054" lvl="1" marL="5486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8"/>
              <a:buChar char="?"/>
            </a:pPr>
            <a:r>
              <a:rPr lang="en-US" sz="2190"/>
              <a:t>Saída F é verdadeira </a:t>
            </a:r>
            <a:r>
              <a:rPr lang="en-US" sz="2190">
                <a:highlight>
                  <a:srgbClr val="FFFF00"/>
                </a:highlight>
              </a:rPr>
              <a:t>se todas entradas forem verdadeiras</a:t>
            </a:r>
            <a:endParaRPr sz="2190">
              <a:highlight>
                <a:srgbClr val="FFFF00"/>
              </a:highlight>
            </a:endParaRPr>
          </a:p>
          <a:p>
            <a:pPr indent="-273202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50"/>
              <a:buChar char="?"/>
            </a:pPr>
            <a:r>
              <a:rPr lang="en-US" sz="2760"/>
              <a:t>Monte a tabela verdade e mostre as equações lógicas.</a:t>
            </a:r>
            <a:endParaRPr sz="2760"/>
          </a:p>
        </p:txBody>
      </p:sp>
      <p:pic>
        <p:nvPicPr>
          <p:cNvPr id="436" name="Google Shape;43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2" name="Google Shape;442;p31"/>
          <p:cNvGraphicFramePr/>
          <p:nvPr/>
        </p:nvGraphicFramePr>
        <p:xfrm>
          <a:off x="91948" y="13401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{C1AE922C-BD11-4ADB-8D8E-02891A41394A}</a:tableStyleId>
              </a:tblPr>
              <a:tblGrid>
                <a:gridCol w="498500"/>
                <a:gridCol w="498500"/>
                <a:gridCol w="498500"/>
                <a:gridCol w="498500"/>
                <a:gridCol w="498500"/>
                <a:gridCol w="498500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A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D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E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F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</a:tbl>
          </a:graphicData>
        </a:graphic>
      </p:graphicFrame>
      <p:sp>
        <p:nvSpPr>
          <p:cNvPr id="443" name="Google Shape;443;p31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Exercício - Resposta</a:t>
            </a:r>
            <a:endParaRPr/>
          </a:p>
        </p:txBody>
      </p:sp>
      <p:sp>
        <p:nvSpPr>
          <p:cNvPr id="444" name="Google Shape;444;p31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5" name="Google Shape;445;p31"/>
          <p:cNvSpPr txBox="1"/>
          <p:nvPr>
            <p:ph idx="1" type="body"/>
          </p:nvPr>
        </p:nvSpPr>
        <p:spPr>
          <a:xfrm>
            <a:off x="457200" y="802360"/>
            <a:ext cx="8229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5270" lvl="0" marL="2743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32"/>
              <a:buChar char="?"/>
            </a:pPr>
            <a:r>
              <a:rPr lang="en-US" sz="2900"/>
              <a:t>Monte as funções para D, E e F</a:t>
            </a:r>
            <a:endParaRPr sz="2900"/>
          </a:p>
        </p:txBody>
      </p:sp>
      <p:sp>
        <p:nvSpPr>
          <p:cNvPr id="446" name="Google Shape;446;p31"/>
          <p:cNvSpPr txBox="1"/>
          <p:nvPr/>
        </p:nvSpPr>
        <p:spPr>
          <a:xfrm>
            <a:off x="3084801" y="1416375"/>
            <a:ext cx="501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</a:t>
            </a:r>
            <a:r>
              <a:rPr b="0" i="0" lang="en-US" sz="2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= A'.B'.C + A'.B.C' + A'.B.C + A.B'.C'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21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+ A.B'.C + A.B.C' + A.B.C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1"/>
          <p:cNvSpPr txBox="1"/>
          <p:nvPr/>
        </p:nvSpPr>
        <p:spPr>
          <a:xfrm>
            <a:off x="3095174" y="2277450"/>
            <a:ext cx="4461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</a:t>
            </a:r>
            <a:r>
              <a:rPr b="0" i="0" lang="en-US" sz="2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= A'.B.C + A.B'.C + A.B.C'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1"/>
          <p:cNvSpPr txBox="1"/>
          <p:nvPr/>
        </p:nvSpPr>
        <p:spPr>
          <a:xfrm>
            <a:off x="3126173" y="2861828"/>
            <a:ext cx="149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</a:t>
            </a:r>
            <a:r>
              <a:rPr b="0" i="0" lang="en-US" sz="2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= A.B.C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bela&#10;&#10;Descrição gerada automaticamente" id="449" name="Google Shape;44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8789" y="2174625"/>
            <a:ext cx="2761886" cy="293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2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Exercício</a:t>
            </a:r>
            <a:endParaRPr/>
          </a:p>
        </p:txBody>
      </p:sp>
      <p:sp>
        <p:nvSpPr>
          <p:cNvPr id="457" name="Google Shape;457;p32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8" name="Google Shape;458;p32"/>
          <p:cNvSpPr txBox="1"/>
          <p:nvPr>
            <p:ph idx="1" type="body"/>
          </p:nvPr>
        </p:nvSpPr>
        <p:spPr>
          <a:xfrm>
            <a:off x="457200" y="926400"/>
            <a:ext cx="8229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US" sz="2000"/>
              <a:t>Desenvolva a tabela verdade para as seguintes expressões booleanas:</a:t>
            </a:r>
            <a:endParaRPr/>
          </a:p>
        </p:txBody>
      </p:sp>
      <p:pic>
        <p:nvPicPr>
          <p:cNvPr id="459" name="Google Shape;45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3743" y="1443609"/>
            <a:ext cx="6176511" cy="1136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3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Resumo – Portas Lógicas</a:t>
            </a:r>
            <a:endParaRPr/>
          </a:p>
        </p:txBody>
      </p:sp>
      <p:sp>
        <p:nvSpPr>
          <p:cNvPr id="467" name="Google Shape;467;p33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8" name="Google Shape;46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9" name="Google Shape;469;p33"/>
          <p:cNvGraphicFramePr/>
          <p:nvPr/>
        </p:nvGraphicFramePr>
        <p:xfrm>
          <a:off x="952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{10DC0EF6-C59F-4A9C-91E3-4D5F35EC13CF}</a:tableStyleId>
              </a:tblPr>
              <a:tblGrid>
                <a:gridCol w="1621125"/>
                <a:gridCol w="1621125"/>
                <a:gridCol w="1621125"/>
              </a:tblGrid>
              <a:tr h="64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PORTA</a:t>
                      </a:r>
                      <a:endParaRPr b="1" sz="12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LÓGICA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SÍMBOLO</a:t>
                      </a:r>
                      <a:endParaRPr b="1" sz="12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MATEMÁTICO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SÍMBOLO GRÁFICO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46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-US" sz="1400" u="none" cap="none" strike="noStrike"/>
                        <a:t>AND</a:t>
                      </a:r>
                      <a:endParaRPr i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. (C = A . B)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46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-US" sz="1400" u="none" cap="none" strike="noStrike"/>
                        <a:t>OR</a:t>
                      </a:r>
                      <a:endParaRPr i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+"/>
                      </a:pPr>
                      <a:r>
                        <a:rPr lang="en-US" sz="1400" u="none" cap="none" strike="noStrike"/>
                        <a:t>(C = A+B)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46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-US" sz="1400" u="none" cap="none" strike="noStrike"/>
                        <a:t>NOT</a:t>
                      </a:r>
                      <a:endParaRPr i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' (C = A')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46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-US" sz="1400" u="none" cap="none" strike="noStrike"/>
                        <a:t>NAND</a:t>
                      </a:r>
                      <a:endParaRPr i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D= (A . B)'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46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-US" sz="1400" u="none" cap="none" strike="noStrike"/>
                        <a:t>NOR</a:t>
                      </a:r>
                      <a:endParaRPr i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 = (A + B)'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46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-US" sz="1400" u="none" cap="none" strike="noStrike"/>
                        <a:t>XOR</a:t>
                      </a:r>
                      <a:endParaRPr i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     (C = A      B)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470" name="Google Shape;47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4975" y="4338165"/>
            <a:ext cx="174450" cy="17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7068" y="4338165"/>
            <a:ext cx="174450" cy="174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2" name="Google Shape;472;p33"/>
          <p:cNvGrpSpPr/>
          <p:nvPr/>
        </p:nvGrpSpPr>
        <p:grpSpPr>
          <a:xfrm>
            <a:off x="4554564" y="1920303"/>
            <a:ext cx="901322" cy="2745968"/>
            <a:chOff x="4554564" y="1920303"/>
            <a:chExt cx="901322" cy="2745968"/>
          </a:xfrm>
        </p:grpSpPr>
        <p:pic>
          <p:nvPicPr>
            <p:cNvPr id="473" name="Google Shape;473;p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54564" y="4254271"/>
              <a:ext cx="866450" cy="41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4" name="Google Shape;474;p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589436" y="3778012"/>
              <a:ext cx="866450" cy="4034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5" name="Google Shape;475;p3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555992" y="3342904"/>
              <a:ext cx="866450" cy="3656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6" name="Google Shape;476;p3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586747" y="2388913"/>
              <a:ext cx="735199" cy="365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7" name="Google Shape;477;p3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565544" y="2870324"/>
              <a:ext cx="748771" cy="365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8" name="Google Shape;478;p3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573586" y="1920303"/>
              <a:ext cx="780423" cy="412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uestion.jpg" id="484" name="Google Shape;4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2950" y="1557338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34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Obrigado, dúvidas?</a:t>
            </a:r>
            <a:endParaRPr/>
          </a:p>
        </p:txBody>
      </p:sp>
      <p:sp>
        <p:nvSpPr>
          <p:cNvPr id="486" name="Google Shape;486;p34"/>
          <p:cNvSpPr txBox="1"/>
          <p:nvPr>
            <p:ph idx="1" type="body"/>
          </p:nvPr>
        </p:nvSpPr>
        <p:spPr>
          <a:xfrm>
            <a:off x="457200" y="914400"/>
            <a:ext cx="82296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32"/>
              <a:buFont typeface="Arial"/>
              <a:buAutoNum type="arabicPeriod"/>
            </a:pPr>
            <a:r>
              <a:rPr lang="en-US"/>
              <a:t>Conceitos de Lógica Digital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32"/>
              <a:buFont typeface="Arial"/>
              <a:buAutoNum type="arabicPeriod"/>
            </a:pPr>
            <a:r>
              <a:rPr lang="en-US"/>
              <a:t>Lógica Booleana</a:t>
            </a:r>
            <a:endParaRPr/>
          </a:p>
          <a:p>
            <a:pPr indent="-264160" lvl="2" marL="82296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38CD5"/>
              </a:buClr>
              <a:buSzPts val="1928"/>
              <a:buChar char="?"/>
            </a:pPr>
            <a:r>
              <a:rPr lang="en-US" sz="2600">
                <a:solidFill>
                  <a:srgbClr val="538CD5"/>
                </a:solidFill>
              </a:rPr>
              <a:t>Álgebra Booleana</a:t>
            </a:r>
            <a:endParaRPr sz="2600">
              <a:solidFill>
                <a:srgbClr val="538CD5"/>
              </a:solidFill>
            </a:endParaRPr>
          </a:p>
          <a:p>
            <a:pPr indent="-264160" lvl="2" marL="82296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38CD5"/>
              </a:buClr>
              <a:buSzPts val="1928"/>
              <a:buChar char="?"/>
            </a:pPr>
            <a:r>
              <a:rPr lang="en-US" sz="2600">
                <a:solidFill>
                  <a:srgbClr val="538CD5"/>
                </a:solidFill>
              </a:rPr>
              <a:t>Tabela Verdade</a:t>
            </a:r>
            <a:endParaRPr sz="2600">
              <a:solidFill>
                <a:srgbClr val="538CD5"/>
              </a:solidFill>
            </a:endParaRPr>
          </a:p>
          <a:p>
            <a:pPr indent="-264160" lvl="2" marL="82296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38CD5"/>
              </a:buClr>
              <a:buSzPts val="1928"/>
              <a:buChar char="?"/>
            </a:pPr>
            <a:r>
              <a:rPr lang="en-US" sz="2600">
                <a:solidFill>
                  <a:srgbClr val="538CD5"/>
                </a:solidFill>
              </a:rPr>
              <a:t>Portas Lógicas</a:t>
            </a:r>
            <a:endParaRPr sz="2600">
              <a:solidFill>
                <a:srgbClr val="538CD5"/>
              </a:solidFill>
            </a:endParaRPr>
          </a:p>
          <a:p>
            <a:pPr indent="-514350" lvl="0" marL="51435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32"/>
              <a:buFont typeface="Arial"/>
              <a:buAutoNum type="arabicPeriod"/>
            </a:pPr>
            <a:r>
              <a:rPr lang="en-US"/>
              <a:t>Exercícios</a:t>
            </a:r>
            <a:endParaRPr/>
          </a:p>
        </p:txBody>
      </p:sp>
      <p:sp>
        <p:nvSpPr>
          <p:cNvPr id="487" name="Google Shape;487;p34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88" name="Google Shape;48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uestion.jpg" id="494" name="Google Shape;494;g358bef7609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2950" y="1557338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g358bef76091_0_0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Exercicios</a:t>
            </a:r>
            <a:endParaRPr/>
          </a:p>
        </p:txBody>
      </p:sp>
      <p:sp>
        <p:nvSpPr>
          <p:cNvPr id="496" name="Google Shape;496;g358bef76091_0_0"/>
          <p:cNvSpPr txBox="1"/>
          <p:nvPr>
            <p:ph idx="1" type="body"/>
          </p:nvPr>
        </p:nvSpPr>
        <p:spPr>
          <a:xfrm>
            <a:off x="457200" y="914400"/>
            <a:ext cx="82296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32"/>
              <a:buFont typeface="Arial"/>
              <a:buAutoNum type="arabicPeriod"/>
            </a:pPr>
            <a:r>
              <a:rPr lang="en-US"/>
              <a:t>Expressões </a:t>
            </a:r>
            <a:r>
              <a:rPr lang="en-US"/>
              <a:t>Booleanas</a:t>
            </a:r>
            <a:endParaRPr/>
          </a:p>
        </p:txBody>
      </p:sp>
      <p:sp>
        <p:nvSpPr>
          <p:cNvPr id="497" name="Google Shape;497;g358bef76091_0_0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98" name="Google Shape;498;g358bef76091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g358bef76091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00375" y="1666875"/>
            <a:ext cx="3143250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rigin">
  <a:themeElements>
    <a:clrScheme name="Custom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DC03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