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6858000" cx="9144000"/>
  <p:notesSz cx="6858000" cy="9144000"/>
  <p:embeddedFontLst>
    <p:embeddedFont>
      <p:font typeface="Montserrat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0" roundtripDataSignature="AMtx7mi6G5dwDrKF1GGb7pwVy+heMNeL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37034FC-1CD2-4816-9530-0CB3F43958B3}">
  <a:tblStyle styleId="{C37034FC-1CD2-4816-9530-0CB3F43958B3}" styleName="Table_0">
    <a:wholeTbl>
      <a:tcTxStyle b="off" i="off">
        <a:font>
          <a:latin typeface="Georgia"/>
          <a:ea typeface="Georgia"/>
          <a:cs typeface="Georgia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9ED"/>
          </a:solidFill>
        </a:fill>
      </a:tcStyle>
    </a:wholeTbl>
    <a:band1H>
      <a:tcTxStyle b="off" i="off"/>
      <a:tcStyle>
        <a:fill>
          <a:solidFill>
            <a:srgbClr val="CFCFD9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CFD9"/>
          </a:solidFill>
        </a:fill>
      </a:tcStyle>
    </a:band1V>
    <a:band2V>
      <a:tcTxStyle b="off" i="off"/>
    </a:band2V>
    <a:lastCol>
      <a:tcTxStyle b="on" i="off">
        <a:font>
          <a:latin typeface="Georgia"/>
          <a:ea typeface="Georgia"/>
          <a:cs typeface="Georgia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Georgia"/>
          <a:ea typeface="Georgia"/>
          <a:cs typeface="Georgia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Georgia"/>
          <a:ea typeface="Georgia"/>
          <a:cs typeface="Georgia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Georgia"/>
          <a:ea typeface="Georgia"/>
          <a:cs typeface="Georgia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-regular.fntdata"/><Relationship Id="rId25" Type="http://schemas.openxmlformats.org/officeDocument/2006/relationships/slide" Target="slides/slide19.xml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7" name="Google Shape;21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5" name="Google Shape;24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2" name="Google Shape;25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9" name="Google Shape;25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3" name="Google Shape;28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0" name="Google Shape;29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0" name="Google Shape;30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showMasterSp="0" type="title">
  <p:cSld name="TITL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1"/>
          <p:cNvSpPr/>
          <p:nvPr/>
        </p:nvSpPr>
        <p:spPr>
          <a:xfrm flipH="1" rot="10800000">
            <a:off x="5410182" y="3810000"/>
            <a:ext cx="3733819" cy="910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" name="Google Shape;26;p21"/>
          <p:cNvSpPr/>
          <p:nvPr/>
        </p:nvSpPr>
        <p:spPr>
          <a:xfrm flipH="1" rot="10800000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4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7" name="Google Shape;27;p21"/>
          <p:cNvSpPr/>
          <p:nvPr/>
        </p:nvSpPr>
        <p:spPr>
          <a:xfrm flipH="1" rot="10800000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431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" name="Google Shape;28;p21"/>
          <p:cNvSpPr/>
          <p:nvPr/>
        </p:nvSpPr>
        <p:spPr>
          <a:xfrm flipH="1" rot="10800000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" name="Google Shape;29;p21"/>
          <p:cNvSpPr/>
          <p:nvPr/>
        </p:nvSpPr>
        <p:spPr>
          <a:xfrm flipH="1" rot="10800000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431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0" name="Google Shape;30;p21"/>
          <p:cNvSpPr/>
          <p:nvPr/>
        </p:nvSpPr>
        <p:spPr>
          <a:xfrm>
            <a:off x="5410200" y="3962400"/>
            <a:ext cx="3063240" cy="2743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1" name="Google Shape;31;p21"/>
          <p:cNvSpPr/>
          <p:nvPr/>
        </p:nvSpPr>
        <p:spPr>
          <a:xfrm>
            <a:off x="7376507" y="4060983"/>
            <a:ext cx="1600200" cy="3657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" name="Google Shape;32;p21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4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" name="Google Shape;33;p21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" name="Google Shape;34;p21"/>
          <p:cNvSpPr/>
          <p:nvPr/>
        </p:nvSpPr>
        <p:spPr>
          <a:xfrm flipH="1" rot="10800000">
            <a:off x="6414051" y="3643090"/>
            <a:ext cx="2729950" cy="248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" name="Google Shape;35;p21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6" name="Google Shape;36;p21"/>
          <p:cNvSpPr txBox="1"/>
          <p:nvPr>
            <p:ph type="ctrTitle"/>
          </p:nvPr>
        </p:nvSpPr>
        <p:spPr>
          <a:xfrm>
            <a:off x="457200" y="2401887"/>
            <a:ext cx="8458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Trebuchet MS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1" type="subTitle"/>
          </p:nvPr>
        </p:nvSpPr>
        <p:spPr>
          <a:xfrm>
            <a:off x="457200" y="3899938"/>
            <a:ext cx="49530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0" type="dt"/>
          </p:nvPr>
        </p:nvSpPr>
        <p:spPr>
          <a:xfrm>
            <a:off x="6705600" y="4206240"/>
            <a:ext cx="960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1" type="ftr"/>
          </p:nvPr>
        </p:nvSpPr>
        <p:spPr>
          <a:xfrm>
            <a:off x="5410200" y="4205288"/>
            <a:ext cx="129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12" type="sldNum"/>
          </p:nvPr>
        </p:nvSpPr>
        <p:spPr>
          <a:xfrm>
            <a:off x="8320088" y="1136"/>
            <a:ext cx="7477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" type="body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2pPr>
            <a:lvl3pPr indent="-3429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2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2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3"/>
          <p:cNvSpPr txBox="1"/>
          <p:nvPr>
            <p:ph type="title"/>
          </p:nvPr>
        </p:nvSpPr>
        <p:spPr>
          <a:xfrm>
            <a:off x="722313" y="19812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Trebuchet MS"/>
              <a:buNone/>
              <a:defRPr b="1" sz="4300" cap="none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1" type="body"/>
          </p:nvPr>
        </p:nvSpPr>
        <p:spPr>
          <a:xfrm>
            <a:off x="722313" y="3367088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None/>
              <a:defRPr b="0" sz="21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0" name="Google Shape;50;p23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4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4"/>
          <p:cNvSpPr txBox="1"/>
          <p:nvPr>
            <p:ph idx="1" type="body"/>
          </p:nvPr>
        </p:nvSpPr>
        <p:spPr>
          <a:xfrm>
            <a:off x="457200" y="2249424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92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900"/>
              <a:buChar char="▫"/>
              <a:defRPr sz="1900"/>
            </a:lvl2pPr>
            <a:lvl3pPr indent="-3429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▫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2" type="body"/>
          </p:nvPr>
        </p:nvSpPr>
        <p:spPr>
          <a:xfrm>
            <a:off x="4648200" y="2249424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92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900"/>
              <a:buChar char="▫"/>
              <a:defRPr sz="1900"/>
            </a:lvl2pPr>
            <a:lvl3pPr indent="-3429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▫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4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5"/>
          <p:cNvSpPr txBox="1"/>
          <p:nvPr>
            <p:ph type="title"/>
          </p:nvPr>
        </p:nvSpPr>
        <p:spPr>
          <a:xfrm>
            <a:off x="381000" y="1143000"/>
            <a:ext cx="8382000" cy="1069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rebuchet MS"/>
              <a:buNone/>
              <a:defRPr b="0" i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5"/>
          <p:cNvSpPr txBox="1"/>
          <p:nvPr>
            <p:ph idx="1" type="body"/>
          </p:nvPr>
        </p:nvSpPr>
        <p:spPr>
          <a:xfrm>
            <a:off x="381000" y="2244970"/>
            <a:ext cx="4041648" cy="457200"/>
          </a:xfrm>
          <a:prstGeom prst="rect">
            <a:avLst/>
          </a:prstGeom>
          <a:solidFill>
            <a:srgbClr val="328D96">
              <a:alpha val="24313"/>
            </a:srgbClr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900"/>
              <a:buNone/>
              <a:defRPr b="1" sz="1900">
                <a:solidFill>
                  <a:srgbClr val="41414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3" name="Google Shape;63;p25"/>
          <p:cNvSpPr txBox="1"/>
          <p:nvPr>
            <p:ph idx="2" type="body"/>
          </p:nvPr>
        </p:nvSpPr>
        <p:spPr>
          <a:xfrm>
            <a:off x="4721225" y="2244970"/>
            <a:ext cx="4041775" cy="457200"/>
          </a:xfrm>
          <a:prstGeom prst="rect">
            <a:avLst/>
          </a:prstGeom>
          <a:solidFill>
            <a:srgbClr val="328D96">
              <a:alpha val="24313"/>
            </a:srgbClr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900"/>
              <a:buNone/>
              <a:defRPr b="1" sz="1900">
                <a:solidFill>
                  <a:srgbClr val="41414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4" name="Google Shape;64;p25"/>
          <p:cNvSpPr txBox="1"/>
          <p:nvPr>
            <p:ph idx="3" type="body"/>
          </p:nvPr>
        </p:nvSpPr>
        <p:spPr>
          <a:xfrm>
            <a:off x="381000" y="2708519"/>
            <a:ext cx="4041648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▫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▫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5" name="Google Shape;65;p25"/>
          <p:cNvSpPr txBox="1"/>
          <p:nvPr>
            <p:ph idx="4" type="body"/>
          </p:nvPr>
        </p:nvSpPr>
        <p:spPr>
          <a:xfrm>
            <a:off x="4718304" y="2708519"/>
            <a:ext cx="4041775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▫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▫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8" name="Google Shape;68;p25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6"/>
          <p:cNvSpPr txBox="1"/>
          <p:nvPr>
            <p:ph type="title"/>
          </p:nvPr>
        </p:nvSpPr>
        <p:spPr>
          <a:xfrm>
            <a:off x="457200" y="1143000"/>
            <a:ext cx="8229600" cy="1069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rebuchet MS"/>
              <a:buNone/>
              <a:defRPr sz="4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6583680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/>
          <p:nvPr>
            <p:ph type="title"/>
          </p:nvPr>
        </p:nvSpPr>
        <p:spPr>
          <a:xfrm>
            <a:off x="5353496" y="1101970"/>
            <a:ext cx="3383280" cy="8778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None/>
              <a:defRPr b="1"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8"/>
          <p:cNvSpPr txBox="1"/>
          <p:nvPr>
            <p:ph idx="1" type="body"/>
          </p:nvPr>
        </p:nvSpPr>
        <p:spPr>
          <a:xfrm>
            <a:off x="5353496" y="2010727"/>
            <a:ext cx="3383280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1" name="Google Shape;81;p28"/>
          <p:cNvSpPr txBox="1"/>
          <p:nvPr>
            <p:ph idx="2" type="body"/>
          </p:nvPr>
        </p:nvSpPr>
        <p:spPr>
          <a:xfrm>
            <a:off x="152400" y="776287"/>
            <a:ext cx="5102352" cy="5852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Char char="▫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Char char="●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▫"/>
              <a:defRPr sz="2000"/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2" name="Google Shape;82;p28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8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8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9"/>
          <p:cNvSpPr txBox="1"/>
          <p:nvPr>
            <p:ph type="title"/>
          </p:nvPr>
        </p:nvSpPr>
        <p:spPr>
          <a:xfrm rot="-5400000">
            <a:off x="3393017" y="3156577"/>
            <a:ext cx="4681637" cy="5868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9"/>
          <p:cNvSpPr/>
          <p:nvPr>
            <p:ph idx="2" type="pic"/>
          </p:nvPr>
        </p:nvSpPr>
        <p:spPr>
          <a:xfrm>
            <a:off x="403671" y="1143000"/>
            <a:ext cx="4572000" cy="4572000"/>
          </a:xfrm>
          <a:prstGeom prst="rect">
            <a:avLst/>
          </a:prstGeom>
          <a:solidFill>
            <a:srgbClr val="EAEAEA"/>
          </a:solidFill>
          <a:ln cap="flat" cmpd="sng" w="508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tl" dir="4800000" dist="31750">
              <a:srgbClr val="000000">
                <a:alpha val="24313"/>
              </a:srgbClr>
            </a:outerShdw>
          </a:effectLst>
        </p:spPr>
      </p:sp>
      <p:sp>
        <p:nvSpPr>
          <p:cNvPr id="88" name="Google Shape;88;p29"/>
          <p:cNvSpPr txBox="1"/>
          <p:nvPr>
            <p:ph idx="1" type="body"/>
          </p:nvPr>
        </p:nvSpPr>
        <p:spPr>
          <a:xfrm>
            <a:off x="6088443" y="3274308"/>
            <a:ext cx="2590800" cy="25164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Georgia"/>
              <a:buNone/>
              <a:defRPr sz="13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Font typeface="Georgia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Georgia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Font typeface="Georgia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Font typeface="Georgia"/>
              <a:buNone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9" name="Google Shape;89;p29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9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9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0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0"/>
          <p:cNvSpPr txBox="1"/>
          <p:nvPr>
            <p:ph idx="1" type="body"/>
          </p:nvPr>
        </p:nvSpPr>
        <p:spPr>
          <a:xfrm rot="5400000">
            <a:off x="2409444" y="297180"/>
            <a:ext cx="432511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2pPr>
            <a:lvl3pPr indent="-3429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5" name="Google Shape;95;p30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0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0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1"/>
          <p:cNvSpPr txBox="1"/>
          <p:nvPr>
            <p:ph type="title"/>
          </p:nvPr>
        </p:nvSpPr>
        <p:spPr>
          <a:xfrm rot="5400000">
            <a:off x="4991100" y="2933700"/>
            <a:ext cx="54864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1"/>
          <p:cNvSpPr txBox="1"/>
          <p:nvPr>
            <p:ph idx="1" type="body"/>
          </p:nvPr>
        </p:nvSpPr>
        <p:spPr>
          <a:xfrm rot="5400000">
            <a:off x="838200" y="762000"/>
            <a:ext cx="5486400" cy="6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2pPr>
            <a:lvl3pPr indent="-3429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01" name="Google Shape;101;p31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1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1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4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" name="Google Shape;7;p20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" name="Google Shape;8;p20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" name="Google Shape;9;p20"/>
          <p:cNvSpPr/>
          <p:nvPr/>
        </p:nvSpPr>
        <p:spPr>
          <a:xfrm flipH="1" rot="10800000">
            <a:off x="5410182" y="360246"/>
            <a:ext cx="3733819" cy="910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" name="Google Shape;10;p20"/>
          <p:cNvSpPr/>
          <p:nvPr/>
        </p:nvSpPr>
        <p:spPr>
          <a:xfrm flipH="1" rot="10800000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4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" name="Google Shape;11;p20"/>
          <p:cNvSpPr/>
          <p:nvPr/>
        </p:nvSpPr>
        <p:spPr>
          <a:xfrm>
            <a:off x="5407339" y="497504"/>
            <a:ext cx="3063240" cy="2743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" name="Google Shape;12;p20"/>
          <p:cNvSpPr/>
          <p:nvPr/>
        </p:nvSpPr>
        <p:spPr>
          <a:xfrm>
            <a:off x="7373646" y="588943"/>
            <a:ext cx="1600200" cy="3657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" name="Google Shape;13;p20"/>
          <p:cNvSpPr/>
          <p:nvPr/>
        </p:nvSpPr>
        <p:spPr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431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" name="Google Shape;14;p20"/>
          <p:cNvSpPr/>
          <p:nvPr/>
        </p:nvSpPr>
        <p:spPr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431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" name="Google Shape;15;p20"/>
          <p:cNvSpPr/>
          <p:nvPr/>
        </p:nvSpPr>
        <p:spPr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" name="Google Shape;16;p20"/>
          <p:cNvSpPr/>
          <p:nvPr/>
        </p:nvSpPr>
        <p:spPr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" name="Google Shape;17;p20"/>
          <p:cNvSpPr/>
          <p:nvPr/>
        </p:nvSpPr>
        <p:spPr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" name="Google Shape;18;p20"/>
          <p:cNvSpPr/>
          <p:nvPr/>
        </p:nvSpPr>
        <p:spPr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2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" name="Google Shape;19;p20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rebuchet MS"/>
              <a:buNone/>
              <a:defRPr b="0" i="0" sz="4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20"/>
          <p:cNvSpPr txBox="1"/>
          <p:nvPr>
            <p:ph idx="1" type="body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Georgia"/>
              <a:buChar char="•"/>
              <a:defRPr b="0" i="0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937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Georgia"/>
              <a:buChar char="▫"/>
              <a:defRPr b="0" i="0" sz="2600" u="none" cap="none" strike="noStrik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-3683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Georgia"/>
              <a:buChar char="▫"/>
              <a:defRPr b="0" i="0" sz="2000" u="none" cap="none" strike="noStrik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b="0" i="0" sz="1800" u="none" cap="none" strike="noStrik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Char char="▫"/>
              <a:defRPr b="0" i="0" sz="1600" u="none" cap="none" strike="noStrik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-32385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Georgia"/>
              <a:buChar char="◦"/>
              <a:defRPr b="0" i="0" sz="1500" u="none" cap="none" strike="noStrik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Georgia"/>
              <a:buChar char="◦"/>
              <a:defRPr b="0" i="0" sz="1400" u="none" cap="none" strike="noStrik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sp>
        <p:nvSpPr>
          <p:cNvPr id="21" name="Google Shape;21;p20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sp>
        <p:nvSpPr>
          <p:cNvPr id="22" name="Google Shape;22;p20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sp>
        <p:nvSpPr>
          <p:cNvPr id="23" name="Google Shape;23;p20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"/>
          <p:cNvSpPr txBox="1"/>
          <p:nvPr>
            <p:ph type="ctrTitle"/>
          </p:nvPr>
        </p:nvSpPr>
        <p:spPr>
          <a:xfrm>
            <a:off x="467544" y="2132856"/>
            <a:ext cx="8458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Trebuchet MS"/>
              <a:buNone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Circuitos Combinacionais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1"/>
          <p:cNvSpPr txBox="1"/>
          <p:nvPr>
            <p:ph idx="1" type="subTitle"/>
          </p:nvPr>
        </p:nvSpPr>
        <p:spPr>
          <a:xfrm>
            <a:off x="457200" y="3899938"/>
            <a:ext cx="49530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400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Fundamentos da Computação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6400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Prof Wendel Tadeu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0" name="Google Shape;110;p1" title="Marca-Manual_Branca-Amarela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7499" y="93225"/>
            <a:ext cx="2498250" cy="112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rebuchet MS"/>
              <a:buNone/>
            </a:pPr>
            <a:r>
              <a:rPr b="1" lang="pt-BR"/>
              <a:t>Circuitos Combinacionais</a:t>
            </a:r>
            <a:endParaRPr/>
          </a:p>
        </p:txBody>
      </p:sp>
      <p:sp>
        <p:nvSpPr>
          <p:cNvPr id="116" name="Google Shape;116;p2"/>
          <p:cNvSpPr txBox="1"/>
          <p:nvPr>
            <p:ph idx="1" type="body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32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pt-BR"/>
              <a:t>Montados a partir da combinação de portas lógicas básicas.</a:t>
            </a:r>
            <a:endParaRPr/>
          </a:p>
          <a:p>
            <a:pPr indent="-256032" lvl="0" marL="36576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Char char="•"/>
            </a:pPr>
            <a:r>
              <a:rPr lang="pt-BR"/>
              <a:t>A saída depende dos valores de entrada atuais.</a:t>
            </a:r>
            <a:endParaRPr/>
          </a:p>
          <a:p>
            <a:pPr indent="-256032" lvl="0" marL="36576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Char char="•"/>
            </a:pPr>
            <a:r>
              <a:rPr lang="pt-BR"/>
              <a:t>Não têm capacidade de armazenamento.</a:t>
            </a:r>
            <a:endParaRPr/>
          </a:p>
          <a:p>
            <a:pPr indent="-256032" lvl="0" marL="36576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Char char="•"/>
            </a:pPr>
            <a:r>
              <a:rPr lang="pt-BR"/>
              <a:t>Realizam operações matemáticas.</a:t>
            </a:r>
            <a:endParaRPr/>
          </a:p>
          <a:p>
            <a:pPr indent="-256032" lvl="0" marL="36576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Char char="•"/>
            </a:pPr>
            <a:r>
              <a:rPr lang="pt-BR"/>
              <a:t>Formados a partir de expressões lógicas.</a:t>
            </a:r>
            <a:endParaRPr/>
          </a:p>
        </p:txBody>
      </p:sp>
      <p:pic>
        <p:nvPicPr>
          <p:cNvPr id="117" name="Google Shape;117;p2" title="Logo la salle OFICIAL Colorid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6332723"/>
            <a:ext cx="1167048" cy="42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 txBox="1"/>
          <p:nvPr>
            <p:ph type="title"/>
          </p:nvPr>
        </p:nvSpPr>
        <p:spPr>
          <a:xfrm>
            <a:off x="457200" y="1143000"/>
            <a:ext cx="8479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rebuchet MS"/>
              <a:buNone/>
            </a:pPr>
            <a:r>
              <a:rPr b="1" lang="pt-BR">
                <a:latin typeface="Montserrat"/>
                <a:ea typeface="Montserrat"/>
                <a:cs typeface="Montserrat"/>
                <a:sym typeface="Montserrat"/>
              </a:rPr>
              <a:t>Circuitos Combinacionais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" name="Google Shape;123;p3"/>
          <p:cNvSpPr txBox="1"/>
          <p:nvPr>
            <p:ph idx="1" type="body"/>
          </p:nvPr>
        </p:nvSpPr>
        <p:spPr>
          <a:xfrm>
            <a:off x="457200" y="2249422"/>
            <a:ext cx="8479800" cy="43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32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•"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A principal característica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246887" lvl="1" marL="658368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Montserrat"/>
              <a:buChar char="▫"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é a classe de circuitos digitais que, em um dado instante de tempo, o estado (os valores) de todas as saídas depende apenas dos valores das entradas neste mesmo instante de tempo.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246887" lvl="1" marL="658368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Montserrat"/>
              <a:buChar char="▫"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Não depende de seus valores passados.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246887" lvl="1" marL="658368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Char char="▫"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Este tipo de circuito lógico pode ser visto como uma </a:t>
            </a:r>
            <a:r>
              <a:rPr i="1" lang="pt-BR">
                <a:latin typeface="Montserrat"/>
                <a:ea typeface="Montserrat"/>
                <a:cs typeface="Montserrat"/>
                <a:sym typeface="Montserrat"/>
              </a:rPr>
              <a:t>caixa preta </a:t>
            </a: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com </a:t>
            </a:r>
            <a:r>
              <a:rPr b="1" lang="pt-BR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 entradas e </a:t>
            </a:r>
            <a:r>
              <a:rPr b="1" lang="pt-BR">
                <a:latin typeface="Montserrat"/>
                <a:ea typeface="Montserrat"/>
                <a:cs typeface="Montserrat"/>
                <a:sym typeface="Montserrat"/>
              </a:rPr>
              <a:t>Y</a:t>
            </a: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 saídas.</a:t>
            </a:r>
            <a:r>
              <a:rPr i="1" lang="pt-BR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4" name="Google Shape;124;p3" title="Logo la salle OFICIAL Colorid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6332723"/>
            <a:ext cx="1167048" cy="42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 txBox="1"/>
          <p:nvPr>
            <p:ph type="title"/>
          </p:nvPr>
        </p:nvSpPr>
        <p:spPr>
          <a:xfrm>
            <a:off x="467544" y="692696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rebuchet MS"/>
              <a:buNone/>
            </a:pPr>
            <a:r>
              <a:rPr b="1" lang="pt-BR"/>
              <a:t>Circuitos Combinacionais</a:t>
            </a:r>
            <a:endParaRPr/>
          </a:p>
        </p:txBody>
      </p:sp>
      <p:sp>
        <p:nvSpPr>
          <p:cNvPr id="130" name="Google Shape;130;p4"/>
          <p:cNvSpPr txBox="1"/>
          <p:nvPr>
            <p:ph idx="1" type="body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131570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131570" lvl="0" marL="36576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131570" lvl="0" marL="36576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131570" lvl="0" marL="36576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131570" lvl="0" marL="36576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131570" lvl="0" marL="36576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131570" lvl="0" marL="36576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131570" lvl="0" marL="36576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256032" lvl="0" marL="36576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Font typeface="Montserrat"/>
              <a:buChar char="•"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As variáveis de entrada X1, X2, .. Xn (digitais binárias ou lógicas) assumem, em qualquer instante, um dos valores binários (ou lógicos) representados por 0 e 1.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256032" lvl="0" marL="36576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Font typeface="Montserrat"/>
              <a:buChar char="•"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A cada combinação possível das variáveis de entrada, o circuito faz corresponder uma combinação nas variáveis binárias de saída Y1, Y2 ..Yn, de acordo com uma lei específica (ou função).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1" name="Google Shape;13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1680" y="1772816"/>
            <a:ext cx="5534025" cy="248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4" title="Logo la salle OFICIAL Colorid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" y="6332723"/>
            <a:ext cx="1167048" cy="42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 txBox="1"/>
          <p:nvPr>
            <p:ph type="title"/>
          </p:nvPr>
        </p:nvSpPr>
        <p:spPr>
          <a:xfrm>
            <a:off x="467544" y="54868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rebuchet MS"/>
              <a:buNone/>
            </a:pPr>
            <a:r>
              <a:rPr lang="pt-BR" sz="3900">
                <a:latin typeface="Montserrat"/>
                <a:ea typeface="Montserrat"/>
                <a:cs typeface="Montserrat"/>
                <a:sym typeface="Montserrat"/>
              </a:rPr>
              <a:t>Circuitos Combinacionais</a:t>
            </a:r>
            <a:endParaRPr sz="3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" name="Google Shape;138;p5"/>
          <p:cNvSpPr txBox="1"/>
          <p:nvPr>
            <p:ph idx="1" type="body"/>
          </p:nvPr>
        </p:nvSpPr>
        <p:spPr>
          <a:xfrm>
            <a:off x="457200" y="1556792"/>
            <a:ext cx="8229600" cy="501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49682" lvl="0" marL="36576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940"/>
              <a:buFont typeface="Montserrat"/>
              <a:buChar char="•"/>
            </a:pPr>
            <a:r>
              <a:rPr lang="pt-BR" sz="1940">
                <a:latin typeface="Montserrat"/>
                <a:ea typeface="Montserrat"/>
                <a:cs typeface="Montserrat"/>
                <a:sym typeface="Montserrat"/>
              </a:rPr>
              <a:t>A lei específica que traduz o comportamento destes circuitos pode ser representada, entre muitas outras formas, através de uma tabela de verdade.</a:t>
            </a:r>
            <a:endParaRPr sz="2280">
              <a:latin typeface="Montserrat"/>
              <a:ea typeface="Montserrat"/>
              <a:cs typeface="Montserrat"/>
              <a:sym typeface="Montserrat"/>
            </a:endParaRPr>
          </a:p>
          <a:p>
            <a:pPr indent="-126490" lvl="0" marL="36576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1940">
              <a:latin typeface="Montserrat"/>
              <a:ea typeface="Montserrat"/>
              <a:cs typeface="Montserrat"/>
              <a:sym typeface="Montserrat"/>
            </a:endParaRPr>
          </a:p>
          <a:p>
            <a:pPr indent="-126490" lvl="0" marL="36576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1940">
              <a:latin typeface="Montserrat"/>
              <a:ea typeface="Montserrat"/>
              <a:cs typeface="Montserrat"/>
              <a:sym typeface="Montserrat"/>
            </a:endParaRPr>
          </a:p>
          <a:p>
            <a:pPr indent="-126490" lvl="0" marL="36576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1940">
              <a:latin typeface="Montserrat"/>
              <a:ea typeface="Montserrat"/>
              <a:cs typeface="Montserrat"/>
              <a:sym typeface="Montserrat"/>
            </a:endParaRPr>
          </a:p>
          <a:p>
            <a:pPr indent="-126490" lvl="0" marL="36576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1940">
              <a:latin typeface="Montserrat"/>
              <a:ea typeface="Montserrat"/>
              <a:cs typeface="Montserrat"/>
              <a:sym typeface="Montserrat"/>
            </a:endParaRPr>
          </a:p>
          <a:p>
            <a:pPr indent="-126490" lvl="0" marL="36576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1940">
              <a:latin typeface="Montserrat"/>
              <a:ea typeface="Montserrat"/>
              <a:cs typeface="Montserrat"/>
              <a:sym typeface="Montserrat"/>
            </a:endParaRPr>
          </a:p>
          <a:p>
            <a:pPr indent="-126490" lvl="0" marL="36576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1940">
              <a:latin typeface="Montserrat"/>
              <a:ea typeface="Montserrat"/>
              <a:cs typeface="Montserrat"/>
              <a:sym typeface="Montserrat"/>
            </a:endParaRPr>
          </a:p>
          <a:p>
            <a:pPr indent="-126490" lvl="0" marL="36576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1940">
              <a:latin typeface="Montserrat"/>
              <a:ea typeface="Montserrat"/>
              <a:cs typeface="Montserrat"/>
              <a:sym typeface="Montserrat"/>
            </a:endParaRPr>
          </a:p>
          <a:p>
            <a:pPr indent="-126490" lvl="0" marL="36576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1940">
              <a:latin typeface="Montserrat"/>
              <a:ea typeface="Montserrat"/>
              <a:cs typeface="Montserrat"/>
              <a:sym typeface="Montserrat"/>
            </a:endParaRPr>
          </a:p>
          <a:p>
            <a:pPr indent="-126490" lvl="0" marL="36576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1940">
              <a:latin typeface="Montserrat"/>
              <a:ea typeface="Montserrat"/>
              <a:cs typeface="Montserrat"/>
              <a:sym typeface="Montserrat"/>
            </a:endParaRPr>
          </a:p>
          <a:p>
            <a:pPr indent="-126490" lvl="0" marL="36576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1940">
              <a:latin typeface="Montserrat"/>
              <a:ea typeface="Montserrat"/>
              <a:cs typeface="Montserrat"/>
              <a:sym typeface="Montserrat"/>
            </a:endParaRPr>
          </a:p>
          <a:p>
            <a:pPr indent="-126490" lvl="0" marL="36576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1940">
              <a:latin typeface="Montserrat"/>
              <a:ea typeface="Montserrat"/>
              <a:cs typeface="Montserrat"/>
              <a:sym typeface="Montserrat"/>
            </a:endParaRPr>
          </a:p>
          <a:p>
            <a:pPr indent="-249682" lvl="0" marL="36576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940"/>
              <a:buFont typeface="Montserrat"/>
              <a:buChar char="•"/>
            </a:pPr>
            <a:r>
              <a:rPr lang="pt-BR" sz="1940">
                <a:latin typeface="Montserrat"/>
                <a:ea typeface="Montserrat"/>
                <a:cs typeface="Montserrat"/>
                <a:sym typeface="Montserrat"/>
              </a:rPr>
              <a:t>Cada variável binária de saída tem associada uma função lógica, realizável através das operações AND (produto), OR (soma) e NOT (negação). </a:t>
            </a:r>
            <a:endParaRPr sz="2280">
              <a:latin typeface="Montserrat"/>
              <a:ea typeface="Montserrat"/>
              <a:cs typeface="Montserrat"/>
              <a:sym typeface="Montserrat"/>
            </a:endParaRPr>
          </a:p>
          <a:p>
            <a:pPr indent="-249682" lvl="0" marL="36576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940"/>
              <a:buFont typeface="Montserrat"/>
              <a:buChar char="•"/>
            </a:pPr>
            <a:r>
              <a:rPr lang="pt-BR" sz="1940">
                <a:latin typeface="Montserrat"/>
                <a:ea typeface="Montserrat"/>
                <a:cs typeface="Montserrat"/>
                <a:sym typeface="Montserrat"/>
              </a:rPr>
              <a:t>Cada uma destas operações elementares é implementada num circuito através de uma porta lógica.</a:t>
            </a:r>
            <a:endParaRPr sz="194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9" name="Google Shape;13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7641" y="2204864"/>
            <a:ext cx="2981325" cy="253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5" title="Logo la salle OFICIAL Colorid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" y="6332723"/>
            <a:ext cx="1167048" cy="42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 txBox="1"/>
          <p:nvPr>
            <p:ph type="title"/>
          </p:nvPr>
        </p:nvSpPr>
        <p:spPr>
          <a:xfrm>
            <a:off x="395536" y="692696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rebuchet MS"/>
              <a:buNone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Diagrama Temporal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6"/>
          <p:cNvSpPr txBox="1"/>
          <p:nvPr>
            <p:ph idx="1" type="body"/>
          </p:nvPr>
        </p:nvSpPr>
        <p:spPr>
          <a:xfrm>
            <a:off x="457200" y="1772816"/>
            <a:ext cx="8229600" cy="480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32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•"/>
            </a:pPr>
            <a:r>
              <a:rPr lang="pt-BR" sz="2400">
                <a:latin typeface="Montserrat"/>
                <a:ea typeface="Montserrat"/>
                <a:cs typeface="Montserrat"/>
                <a:sym typeface="Montserrat"/>
              </a:rPr>
              <a:t>Representa a evolução temporal das saídas em função das entradas.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256032" lvl="0" marL="36576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Font typeface="Montserrat"/>
              <a:buChar char="•"/>
            </a:pPr>
            <a:r>
              <a:rPr lang="pt-BR" sz="2400">
                <a:latin typeface="Montserrat"/>
                <a:ea typeface="Montserrat"/>
                <a:cs typeface="Montserrat"/>
                <a:sym typeface="Montserrat"/>
              </a:rPr>
              <a:t>O eixo horizontal representa o tempo e no eixo vertical o sinal muda de estado entre os dois níveis admissíveis.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7" name="Google Shape;14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9560" y="3356992"/>
            <a:ext cx="4352925" cy="332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6" title="Logo la salle OFICIAL Colorid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" y="6332723"/>
            <a:ext cx="1167048" cy="42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"/>
          <p:cNvSpPr txBox="1"/>
          <p:nvPr>
            <p:ph type="title"/>
          </p:nvPr>
        </p:nvSpPr>
        <p:spPr>
          <a:xfrm>
            <a:off x="467544" y="90872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rebuchet MS"/>
              <a:buNone/>
            </a:pPr>
            <a:r>
              <a:rPr lang="pt-BR"/>
              <a:t>Implementação de Circuitos Combinacionais</a:t>
            </a:r>
            <a:endParaRPr/>
          </a:p>
        </p:txBody>
      </p:sp>
      <p:sp>
        <p:nvSpPr>
          <p:cNvPr id="154" name="Google Shape;154;p7"/>
          <p:cNvSpPr txBox="1"/>
          <p:nvPr>
            <p:ph idx="1" type="body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32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•"/>
            </a:pPr>
            <a:r>
              <a:rPr lang="pt-BR" sz="2400">
                <a:latin typeface="Montserrat"/>
                <a:ea typeface="Montserrat"/>
                <a:cs typeface="Montserrat"/>
                <a:sym typeface="Montserrat"/>
              </a:rPr>
              <a:t>Dada uma expressão booleana qualquer, pode-se implementar o circuito combinacional correspondente, associando portas lógicas de acordo com as operações lógicas envolvidas na expressão.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256032" lvl="0" marL="36576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Font typeface="Montserrat"/>
              <a:buChar char="•"/>
            </a:pPr>
            <a:r>
              <a:rPr lang="pt-BR" sz="2400">
                <a:latin typeface="Montserrat"/>
                <a:ea typeface="Montserrat"/>
                <a:cs typeface="Montserrat"/>
                <a:sym typeface="Montserrat"/>
              </a:rPr>
              <a:t>Exemplo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246887" lvl="1" marL="658368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200"/>
              <a:buFont typeface="Montserrat"/>
              <a:buChar char="▫"/>
            </a:pPr>
            <a:r>
              <a:rPr lang="pt-BR" sz="2200">
                <a:latin typeface="Montserrat"/>
                <a:ea typeface="Montserrat"/>
                <a:cs typeface="Montserrat"/>
                <a:sym typeface="Montserrat"/>
              </a:rPr>
              <a:t>Expressão booleana: </a:t>
            </a:r>
            <a:r>
              <a:rPr lang="pt-BR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 = X + Y’ . Z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07187" lvl="1" marL="658368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-246887" lvl="1" marL="658368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200"/>
              <a:buFont typeface="Montserrat"/>
              <a:buChar char="▫"/>
            </a:pPr>
            <a:r>
              <a:rPr lang="pt-BR" sz="2200">
                <a:latin typeface="Montserrat"/>
                <a:ea typeface="Montserrat"/>
                <a:cs typeface="Montserrat"/>
                <a:sym typeface="Montserrat"/>
              </a:rPr>
              <a:t>Circuito resultante: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256032" lvl="0" marL="36576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256032" lvl="0" marL="36576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  <p:pic>
        <p:nvPicPr>
          <p:cNvPr id="155" name="Google Shape;15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50432" y="5373216"/>
            <a:ext cx="3534465" cy="1008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7" title="Logo la salle OFICIAL Colorid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" y="6332723"/>
            <a:ext cx="1167048" cy="42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"/>
          <p:cNvSpPr txBox="1"/>
          <p:nvPr>
            <p:ph type="title"/>
          </p:nvPr>
        </p:nvSpPr>
        <p:spPr>
          <a:xfrm>
            <a:off x="467544" y="764704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rebuchet MS"/>
              <a:buNone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Implementação de Circuitos Combinacionais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8"/>
          <p:cNvSpPr txBox="1"/>
          <p:nvPr>
            <p:ph idx="1" type="body"/>
          </p:nvPr>
        </p:nvSpPr>
        <p:spPr>
          <a:xfrm>
            <a:off x="457200" y="1916832"/>
            <a:ext cx="8229600" cy="4657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32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•"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Exercícios: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246887" lvl="1" marL="658368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Montserrat"/>
              <a:buChar char="▫"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Desenhe o diagrama lógico correspondente às seguintes expressões: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3" name="Google Shape;16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5616" y="3429000"/>
            <a:ext cx="3600400" cy="2441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8" title="Logo la salle OFICIAL Colorid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" y="6332723"/>
            <a:ext cx="1167048" cy="42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"/>
          <p:cNvSpPr txBox="1"/>
          <p:nvPr>
            <p:ph type="title"/>
          </p:nvPr>
        </p:nvSpPr>
        <p:spPr>
          <a:xfrm>
            <a:off x="467544" y="764704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rebuchet MS"/>
              <a:buNone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Obtenção da função lógica a partir do Circuito Combinacional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9"/>
          <p:cNvSpPr txBox="1"/>
          <p:nvPr>
            <p:ph idx="1" type="body"/>
          </p:nvPr>
        </p:nvSpPr>
        <p:spPr>
          <a:xfrm>
            <a:off x="457200" y="2204864"/>
            <a:ext cx="8435280" cy="4369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6982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Char char="•"/>
            </a:pPr>
            <a:r>
              <a:rPr lang="pt-BR" sz="2100">
                <a:latin typeface="Montserrat"/>
                <a:ea typeface="Montserrat"/>
                <a:cs typeface="Montserrat"/>
                <a:sym typeface="Montserrat"/>
              </a:rPr>
              <a:t>Dado um circuito combinacional qualquer, pode-se obter sua função lógica ou expressão booleana correspondente, associando as variáveis de entrada entre si através das operações lógicas envolvidas no circuito.</a:t>
            </a:r>
            <a:endParaRPr sz="2500">
              <a:latin typeface="Montserrat"/>
              <a:ea typeface="Montserrat"/>
              <a:cs typeface="Montserrat"/>
              <a:sym typeface="Montserrat"/>
            </a:endParaRPr>
          </a:p>
          <a:p>
            <a:pPr indent="-236982" lvl="0" marL="36576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Font typeface="Montserrat"/>
              <a:buChar char="•"/>
            </a:pPr>
            <a:r>
              <a:rPr lang="pt-BR" sz="2100">
                <a:latin typeface="Montserrat"/>
                <a:ea typeface="Montserrat"/>
                <a:cs typeface="Montserrat"/>
                <a:sym typeface="Montserrat"/>
              </a:rPr>
              <a:t>Exemplo:</a:t>
            </a:r>
            <a:endParaRPr sz="210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71" name="Google Shape;171;p9"/>
          <p:cNvGrpSpPr/>
          <p:nvPr/>
        </p:nvGrpSpPr>
        <p:grpSpPr>
          <a:xfrm>
            <a:off x="1835696" y="4653136"/>
            <a:ext cx="5110192" cy="864096"/>
            <a:chOff x="1331640" y="4221088"/>
            <a:chExt cx="5110192" cy="864096"/>
          </a:xfrm>
        </p:grpSpPr>
        <p:sp>
          <p:nvSpPr>
            <p:cNvPr id="172" name="Google Shape;172;p9"/>
            <p:cNvSpPr/>
            <p:nvPr/>
          </p:nvSpPr>
          <p:spPr>
            <a:xfrm>
              <a:off x="2555776" y="4293096"/>
              <a:ext cx="432048" cy="504056"/>
            </a:xfrm>
            <a:prstGeom prst="flowChartDelay">
              <a:avLst/>
            </a:prstGeom>
            <a:solidFill>
              <a:schemeClr val="lt1"/>
            </a:solidFill>
            <a:ln cap="flat" cmpd="sng" w="19050">
              <a:solidFill>
                <a:srgbClr val="3C3D6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cxnSp>
          <p:nvCxnSpPr>
            <p:cNvPr id="173" name="Google Shape;173;p9"/>
            <p:cNvCxnSpPr/>
            <p:nvPr/>
          </p:nvCxnSpPr>
          <p:spPr>
            <a:xfrm>
              <a:off x="1619672" y="4365104"/>
              <a:ext cx="936104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4" name="Google Shape;174;p9"/>
            <p:cNvCxnSpPr/>
            <p:nvPr/>
          </p:nvCxnSpPr>
          <p:spPr>
            <a:xfrm>
              <a:off x="1619672" y="4725144"/>
              <a:ext cx="936104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5" name="Google Shape;175;p9"/>
            <p:cNvSpPr/>
            <p:nvPr/>
          </p:nvSpPr>
          <p:spPr>
            <a:xfrm>
              <a:off x="2987824" y="4509120"/>
              <a:ext cx="72008" cy="72008"/>
            </a:xfrm>
            <a:prstGeom prst="flowChartConnector">
              <a:avLst/>
            </a:pr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cxnSp>
          <p:nvCxnSpPr>
            <p:cNvPr id="176" name="Google Shape;176;p9"/>
            <p:cNvCxnSpPr/>
            <p:nvPr/>
          </p:nvCxnSpPr>
          <p:spPr>
            <a:xfrm>
              <a:off x="3059832" y="4542491"/>
              <a:ext cx="936104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177" name="Google Shape;177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923928" y="4437112"/>
              <a:ext cx="523875" cy="47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" name="Google Shape;178;p9"/>
            <p:cNvSpPr/>
            <p:nvPr/>
          </p:nvSpPr>
          <p:spPr>
            <a:xfrm>
              <a:off x="5364088" y="4581128"/>
              <a:ext cx="432048" cy="504056"/>
            </a:xfrm>
            <a:prstGeom prst="flowChartDelay">
              <a:avLst/>
            </a:prstGeom>
            <a:solidFill>
              <a:schemeClr val="lt1"/>
            </a:solidFill>
            <a:ln cap="flat" cmpd="sng" w="19050">
              <a:solidFill>
                <a:srgbClr val="3C3D6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cxnSp>
          <p:nvCxnSpPr>
            <p:cNvPr id="179" name="Google Shape;179;p9"/>
            <p:cNvCxnSpPr/>
            <p:nvPr/>
          </p:nvCxnSpPr>
          <p:spPr>
            <a:xfrm>
              <a:off x="4427984" y="4691773"/>
              <a:ext cx="936104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0" name="Google Shape;180;p9"/>
            <p:cNvCxnSpPr/>
            <p:nvPr/>
          </p:nvCxnSpPr>
          <p:spPr>
            <a:xfrm rot="5400000">
              <a:off x="1979712" y="4869160"/>
              <a:ext cx="288032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1" name="Google Shape;181;p9"/>
            <p:cNvCxnSpPr/>
            <p:nvPr/>
          </p:nvCxnSpPr>
          <p:spPr>
            <a:xfrm>
              <a:off x="2123728" y="5013176"/>
              <a:ext cx="324036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2" name="Google Shape;182;p9"/>
            <p:cNvCxnSpPr/>
            <p:nvPr/>
          </p:nvCxnSpPr>
          <p:spPr>
            <a:xfrm>
              <a:off x="3419872" y="4797152"/>
              <a:ext cx="504056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3" name="Google Shape;183;p9"/>
            <p:cNvSpPr txBox="1"/>
            <p:nvPr/>
          </p:nvSpPr>
          <p:spPr>
            <a:xfrm>
              <a:off x="1331640" y="4221088"/>
              <a:ext cx="30489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pt-BR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rPr>
                <a:t>A</a:t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84" name="Google Shape;184;p9"/>
            <p:cNvSpPr txBox="1"/>
            <p:nvPr/>
          </p:nvSpPr>
          <p:spPr>
            <a:xfrm>
              <a:off x="1331640" y="4581128"/>
              <a:ext cx="30489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pt-BR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rPr>
                <a:t>B</a:t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85" name="Google Shape;185;p9"/>
            <p:cNvSpPr txBox="1"/>
            <p:nvPr/>
          </p:nvSpPr>
          <p:spPr>
            <a:xfrm>
              <a:off x="3131840" y="4653136"/>
              <a:ext cx="30489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pt-BR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rPr>
                <a:t>C</a:t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86" name="Google Shape;186;p9"/>
            <p:cNvSpPr txBox="1"/>
            <p:nvPr/>
          </p:nvSpPr>
          <p:spPr>
            <a:xfrm>
              <a:off x="6156176" y="4437112"/>
              <a:ext cx="28565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pt-BR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rPr>
                <a:t>S</a:t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cxnSp>
          <p:nvCxnSpPr>
            <p:cNvPr id="187" name="Google Shape;187;p9"/>
            <p:cNvCxnSpPr/>
            <p:nvPr/>
          </p:nvCxnSpPr>
          <p:spPr>
            <a:xfrm>
              <a:off x="5796136" y="4835789"/>
              <a:ext cx="504056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188" name="Google Shape;188;p9" title="Logo la salle OFICIAL Colorid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" y="6332723"/>
            <a:ext cx="1167048" cy="42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"/>
          <p:cNvSpPr txBox="1"/>
          <p:nvPr>
            <p:ph type="title"/>
          </p:nvPr>
        </p:nvSpPr>
        <p:spPr>
          <a:xfrm>
            <a:off x="539552" y="836712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rebuchet MS"/>
              <a:buNone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Obtenção da função lógica a partir do Circuito Combinacional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94" name="Google Shape;194;p10"/>
          <p:cNvGrpSpPr/>
          <p:nvPr/>
        </p:nvGrpSpPr>
        <p:grpSpPr>
          <a:xfrm>
            <a:off x="1979712" y="2708920"/>
            <a:ext cx="6257638" cy="864096"/>
            <a:chOff x="1979712" y="2708920"/>
            <a:chExt cx="6257638" cy="864096"/>
          </a:xfrm>
        </p:grpSpPr>
        <p:sp>
          <p:nvSpPr>
            <p:cNvPr id="195" name="Google Shape;195;p10"/>
            <p:cNvSpPr/>
            <p:nvPr/>
          </p:nvSpPr>
          <p:spPr>
            <a:xfrm>
              <a:off x="3203848" y="2780928"/>
              <a:ext cx="432048" cy="504056"/>
            </a:xfrm>
            <a:prstGeom prst="flowChartDelay">
              <a:avLst/>
            </a:prstGeom>
            <a:solidFill>
              <a:schemeClr val="lt1"/>
            </a:solidFill>
            <a:ln cap="flat" cmpd="sng" w="19050">
              <a:solidFill>
                <a:srgbClr val="3C3D6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cxnSp>
          <p:nvCxnSpPr>
            <p:cNvPr id="196" name="Google Shape;196;p10"/>
            <p:cNvCxnSpPr/>
            <p:nvPr/>
          </p:nvCxnSpPr>
          <p:spPr>
            <a:xfrm>
              <a:off x="2267744" y="2852936"/>
              <a:ext cx="936104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7" name="Google Shape;197;p10"/>
            <p:cNvCxnSpPr/>
            <p:nvPr/>
          </p:nvCxnSpPr>
          <p:spPr>
            <a:xfrm>
              <a:off x="2267744" y="3212976"/>
              <a:ext cx="936104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8" name="Google Shape;198;p10"/>
            <p:cNvSpPr/>
            <p:nvPr/>
          </p:nvSpPr>
          <p:spPr>
            <a:xfrm>
              <a:off x="3635896" y="2996952"/>
              <a:ext cx="72008" cy="72008"/>
            </a:xfrm>
            <a:prstGeom prst="flowChartConnector">
              <a:avLst/>
            </a:pr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cxnSp>
          <p:nvCxnSpPr>
            <p:cNvPr id="199" name="Google Shape;199;p10"/>
            <p:cNvCxnSpPr/>
            <p:nvPr/>
          </p:nvCxnSpPr>
          <p:spPr>
            <a:xfrm>
              <a:off x="3707904" y="3030323"/>
              <a:ext cx="936104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200" name="Google Shape;200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572000" y="2924944"/>
              <a:ext cx="523875" cy="47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" name="Google Shape;201;p10"/>
            <p:cNvSpPr/>
            <p:nvPr/>
          </p:nvSpPr>
          <p:spPr>
            <a:xfrm>
              <a:off x="6012160" y="3068960"/>
              <a:ext cx="432048" cy="504056"/>
            </a:xfrm>
            <a:prstGeom prst="flowChartDelay">
              <a:avLst/>
            </a:prstGeom>
            <a:solidFill>
              <a:schemeClr val="lt1"/>
            </a:solidFill>
            <a:ln cap="flat" cmpd="sng" w="19050">
              <a:solidFill>
                <a:srgbClr val="3C3D6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cxnSp>
          <p:nvCxnSpPr>
            <p:cNvPr id="202" name="Google Shape;202;p10"/>
            <p:cNvCxnSpPr/>
            <p:nvPr/>
          </p:nvCxnSpPr>
          <p:spPr>
            <a:xfrm>
              <a:off x="5076056" y="3179605"/>
              <a:ext cx="936104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3" name="Google Shape;203;p10"/>
            <p:cNvCxnSpPr/>
            <p:nvPr/>
          </p:nvCxnSpPr>
          <p:spPr>
            <a:xfrm rot="5400000">
              <a:off x="2627784" y="3356992"/>
              <a:ext cx="288032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4" name="Google Shape;204;p10"/>
            <p:cNvCxnSpPr/>
            <p:nvPr/>
          </p:nvCxnSpPr>
          <p:spPr>
            <a:xfrm>
              <a:off x="2771800" y="3501008"/>
              <a:ext cx="324036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5" name="Google Shape;205;p10"/>
            <p:cNvCxnSpPr/>
            <p:nvPr/>
          </p:nvCxnSpPr>
          <p:spPr>
            <a:xfrm>
              <a:off x="4067944" y="3284984"/>
              <a:ext cx="504056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6" name="Google Shape;206;p10"/>
            <p:cNvSpPr txBox="1"/>
            <p:nvPr/>
          </p:nvSpPr>
          <p:spPr>
            <a:xfrm>
              <a:off x="1979712" y="2708920"/>
              <a:ext cx="30489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pt-BR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rPr>
                <a:t>A</a:t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07" name="Google Shape;207;p10"/>
            <p:cNvSpPr txBox="1"/>
            <p:nvPr/>
          </p:nvSpPr>
          <p:spPr>
            <a:xfrm>
              <a:off x="1979712" y="3068960"/>
              <a:ext cx="30489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pt-BR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rPr>
                <a:t>B</a:t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08" name="Google Shape;208;p10"/>
            <p:cNvSpPr txBox="1"/>
            <p:nvPr/>
          </p:nvSpPr>
          <p:spPr>
            <a:xfrm>
              <a:off x="3779912" y="3140968"/>
              <a:ext cx="30489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pt-BR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rPr>
                <a:t>C</a:t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09" name="Google Shape;209;p10"/>
            <p:cNvSpPr txBox="1"/>
            <p:nvPr/>
          </p:nvSpPr>
          <p:spPr>
            <a:xfrm>
              <a:off x="6804250" y="2924950"/>
              <a:ext cx="14331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pt-BR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rPr>
                <a:t>S=((A.B)’+C).B</a:t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cxnSp>
          <p:nvCxnSpPr>
            <p:cNvPr id="210" name="Google Shape;210;p10"/>
            <p:cNvCxnSpPr/>
            <p:nvPr/>
          </p:nvCxnSpPr>
          <p:spPr>
            <a:xfrm>
              <a:off x="6444208" y="3323621"/>
              <a:ext cx="504056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11" name="Google Shape;211;p10"/>
          <p:cNvSpPr txBox="1"/>
          <p:nvPr/>
        </p:nvSpPr>
        <p:spPr>
          <a:xfrm>
            <a:off x="3851927" y="2708925"/>
            <a:ext cx="661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(A.B)’</a:t>
            </a:r>
            <a:endParaRPr b="0" i="0" sz="14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2" name="Google Shape;212;p10"/>
          <p:cNvSpPr txBox="1"/>
          <p:nvPr/>
        </p:nvSpPr>
        <p:spPr>
          <a:xfrm>
            <a:off x="5220076" y="2833200"/>
            <a:ext cx="87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(A.B)’+C</a:t>
            </a:r>
            <a:endParaRPr b="0" i="0" sz="14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3635900" y="4378450"/>
            <a:ext cx="21645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S=((A.B)’+C).B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4" name="Google Shape;214;p10" title="Logo la salle OFICIAL Colorid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" y="6332723"/>
            <a:ext cx="1167048" cy="42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"/>
          <p:cNvSpPr txBox="1"/>
          <p:nvPr>
            <p:ph type="title"/>
          </p:nvPr>
        </p:nvSpPr>
        <p:spPr>
          <a:xfrm>
            <a:off x="395536" y="836712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rebuchet MS"/>
              <a:buNone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Obtenção da função lógica a partir do Circuito Combinacional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" name="Google Shape;220;p11"/>
          <p:cNvSpPr txBox="1"/>
          <p:nvPr>
            <p:ph idx="1" type="body"/>
          </p:nvPr>
        </p:nvSpPr>
        <p:spPr>
          <a:xfrm>
            <a:off x="457200" y="2060848"/>
            <a:ext cx="8229600" cy="4513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32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•"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Exercícios: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246887" lvl="1" marL="658368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Montserrat"/>
              <a:buChar char="▫"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Obtenha a função lógica a partir dos circuitos abaixo: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78232" lvl="0" marL="36576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1" name="Google Shape;22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1640" y="3645024"/>
            <a:ext cx="3209925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59632" y="5157192"/>
            <a:ext cx="2181225" cy="107632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1"/>
          <p:cNvSpPr/>
          <p:nvPr/>
        </p:nvSpPr>
        <p:spPr>
          <a:xfrm>
            <a:off x="827584" y="3645024"/>
            <a:ext cx="3882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a)</a:t>
            </a:r>
            <a:endParaRPr b="0" i="0" sz="1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827584" y="5075892"/>
            <a:ext cx="4010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b)</a:t>
            </a:r>
            <a:endParaRPr b="0" i="0" sz="1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25" name="Google Shape;225;p11" title="Logo la salle OFICIAL Colorido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" y="6332723"/>
            <a:ext cx="1167048" cy="42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"/>
          <p:cNvSpPr txBox="1"/>
          <p:nvPr>
            <p:ph type="title"/>
          </p:nvPr>
        </p:nvSpPr>
        <p:spPr>
          <a:xfrm>
            <a:off x="395536" y="90872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None/>
            </a:pPr>
            <a:r>
              <a:rPr lang="pt-BR" sz="3300">
                <a:latin typeface="Montserrat"/>
                <a:ea typeface="Montserrat"/>
                <a:cs typeface="Montserrat"/>
                <a:sym typeface="Montserrat"/>
              </a:rPr>
              <a:t>Obtenção da função lógica a partir do Circuito Combinacional</a:t>
            </a:r>
            <a:endParaRPr sz="33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1" name="Google Shape;23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584" y="4149080"/>
            <a:ext cx="3943350" cy="216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568" y="2132856"/>
            <a:ext cx="2609850" cy="16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2"/>
          <p:cNvSpPr/>
          <p:nvPr/>
        </p:nvSpPr>
        <p:spPr>
          <a:xfrm>
            <a:off x="439336" y="2132856"/>
            <a:ext cx="3882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c)</a:t>
            </a:r>
            <a:endParaRPr b="0" i="0" sz="1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439336" y="4067780"/>
            <a:ext cx="4042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d)</a:t>
            </a:r>
            <a:endParaRPr b="0" i="0" sz="1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35" name="Google Shape;235;p12" title="Logo la salle OFICIAL Colorido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" y="6332723"/>
            <a:ext cx="1167048" cy="42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3"/>
          <p:cNvSpPr txBox="1"/>
          <p:nvPr>
            <p:ph type="title"/>
          </p:nvPr>
        </p:nvSpPr>
        <p:spPr>
          <a:xfrm>
            <a:off x="467550" y="908725"/>
            <a:ext cx="85401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None/>
            </a:pPr>
            <a:r>
              <a:rPr lang="pt-BR" sz="3200">
                <a:latin typeface="Montserrat"/>
                <a:ea typeface="Montserrat"/>
                <a:cs typeface="Montserrat"/>
                <a:sym typeface="Montserrat"/>
              </a:rPr>
              <a:t>Aplicações dos Circuitos Combinacionais</a:t>
            </a:r>
            <a:endParaRPr sz="3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1" name="Google Shape;241;p13"/>
          <p:cNvSpPr txBox="1"/>
          <p:nvPr>
            <p:ph idx="1" type="body"/>
          </p:nvPr>
        </p:nvSpPr>
        <p:spPr>
          <a:xfrm>
            <a:off x="457200" y="2132856"/>
            <a:ext cx="8229600" cy="444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6887" lvl="1" marL="65836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Montserrat"/>
              <a:buChar char="▫"/>
            </a:pPr>
            <a:r>
              <a:rPr b="1" lang="pt-BR">
                <a:latin typeface="Montserrat"/>
                <a:ea typeface="Montserrat"/>
                <a:cs typeface="Montserrat"/>
                <a:sym typeface="Montserrat"/>
              </a:rPr>
              <a:t>As aplicações de circuitos combinacionais são projetos de circuitos digitais com finalidades específicas: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-219455" lvl="2" marL="923544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Font typeface="Montserrat"/>
              <a:buChar char="●"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Controle de Processos físicos para tomada de decisões.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219455" lvl="2" marL="923544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Font typeface="Montserrat"/>
              <a:buChar char="●"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Formado apenas por Hardware - o circuito normalmente é projetado para cada tarefa.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201166" lvl="3" marL="1179576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200"/>
              <a:buFont typeface="Montserrat"/>
              <a:buChar char="●"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Ex.: Controle de Alarme, ar condicionado, portas de cofres, bombas d’água, temperatura de estufas.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78232" lvl="0" marL="36576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2" name="Google Shape;242;p13" title="Logo la salle OFICIAL Colorid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6332723"/>
            <a:ext cx="1167048" cy="42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4"/>
          <p:cNvSpPr txBox="1"/>
          <p:nvPr>
            <p:ph type="title"/>
          </p:nvPr>
        </p:nvSpPr>
        <p:spPr>
          <a:xfrm>
            <a:off x="467550" y="764700"/>
            <a:ext cx="8520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None/>
            </a:pPr>
            <a:r>
              <a:rPr lang="pt-BR" sz="3200">
                <a:latin typeface="Montserrat"/>
                <a:ea typeface="Montserrat"/>
                <a:cs typeface="Montserrat"/>
                <a:sym typeface="Montserrat"/>
              </a:rPr>
              <a:t>Aplicações dos Circuitos Combinacionais</a:t>
            </a:r>
            <a:endParaRPr sz="3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8" name="Google Shape;248;p14"/>
          <p:cNvSpPr txBox="1"/>
          <p:nvPr>
            <p:ph idx="1" type="body"/>
          </p:nvPr>
        </p:nvSpPr>
        <p:spPr>
          <a:xfrm>
            <a:off x="457200" y="1988840"/>
            <a:ext cx="8229600" cy="4585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3332" lvl="0" marL="3657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Font typeface="Montserrat"/>
              <a:buChar char="•"/>
            </a:pPr>
            <a:r>
              <a:rPr b="1" lang="pt-BR" sz="2600">
                <a:latin typeface="Montserrat"/>
                <a:ea typeface="Montserrat"/>
                <a:cs typeface="Montserrat"/>
                <a:sym typeface="Montserrat"/>
              </a:rPr>
              <a:t>Sequência de operações:</a:t>
            </a:r>
            <a:endParaRPr b="1" sz="2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AutoNum type="arabicPeriod"/>
            </a:pPr>
            <a:r>
              <a:rPr lang="pt-BR" sz="2600">
                <a:latin typeface="Montserrat"/>
                <a:ea typeface="Montserrat"/>
                <a:cs typeface="Montserrat"/>
                <a:sym typeface="Montserrat"/>
              </a:rPr>
              <a:t>Determinar todas as variáveis de entrada.</a:t>
            </a:r>
            <a:endParaRPr sz="2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AutoNum type="arabicPeriod"/>
            </a:pPr>
            <a:r>
              <a:rPr lang="pt-BR" sz="2600">
                <a:latin typeface="Montserrat"/>
                <a:ea typeface="Montserrat"/>
                <a:cs typeface="Montserrat"/>
                <a:sym typeface="Montserrat"/>
              </a:rPr>
              <a:t>Determinar todas as variáveis de saída.</a:t>
            </a:r>
            <a:endParaRPr sz="2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AutoNum type="arabicPeriod"/>
            </a:pPr>
            <a:r>
              <a:rPr lang="pt-BR" sz="2600">
                <a:latin typeface="Montserrat"/>
                <a:ea typeface="Montserrat"/>
                <a:cs typeface="Montserrat"/>
                <a:sym typeface="Montserrat"/>
              </a:rPr>
              <a:t>A partir da combinação das variáveis de entrada, montar a tabela-verdade para cada saída.</a:t>
            </a:r>
            <a:endParaRPr sz="2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AutoNum type="arabicPeriod"/>
            </a:pPr>
            <a:r>
              <a:rPr lang="pt-BR" sz="2600">
                <a:latin typeface="Montserrat"/>
                <a:ea typeface="Montserrat"/>
                <a:cs typeface="Montserrat"/>
                <a:sym typeface="Montserrat"/>
              </a:rPr>
              <a:t>Obter, a partir da tabela-verdade, a expressão booleana de cada saída.</a:t>
            </a:r>
            <a:endParaRPr sz="2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AutoNum type="arabicPeriod"/>
            </a:pPr>
            <a:r>
              <a:rPr lang="pt-BR" sz="2600">
                <a:latin typeface="Montserrat"/>
                <a:ea typeface="Montserrat"/>
                <a:cs typeface="Montserrat"/>
                <a:sym typeface="Montserrat"/>
              </a:rPr>
              <a:t>Implementar, a partir da expressão booleana, o circuito combinacional correspondente.</a:t>
            </a:r>
            <a:endParaRPr sz="2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9" name="Google Shape;249;p14" title="Logo la salle OFICIAL Colorid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6332723"/>
            <a:ext cx="1167048" cy="42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5"/>
          <p:cNvSpPr txBox="1"/>
          <p:nvPr>
            <p:ph type="title"/>
          </p:nvPr>
        </p:nvSpPr>
        <p:spPr>
          <a:xfrm>
            <a:off x="467544" y="836712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None/>
            </a:pPr>
            <a:r>
              <a:rPr lang="pt-BR" sz="3100">
                <a:latin typeface="Montserrat"/>
                <a:ea typeface="Montserrat"/>
                <a:cs typeface="Montserrat"/>
                <a:sym typeface="Montserrat"/>
              </a:rPr>
              <a:t>Aplicações dos Circuitos Combinacionais</a:t>
            </a:r>
            <a:endParaRPr sz="3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5" name="Google Shape;255;p15"/>
          <p:cNvSpPr txBox="1"/>
          <p:nvPr>
            <p:ph idx="1" type="body"/>
          </p:nvPr>
        </p:nvSpPr>
        <p:spPr>
          <a:xfrm>
            <a:off x="457200" y="2060848"/>
            <a:ext cx="8229600" cy="4513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32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•"/>
            </a:pPr>
            <a:r>
              <a:rPr lang="pt-BR" sz="2400">
                <a:latin typeface="Montserrat"/>
                <a:ea typeface="Montserrat"/>
                <a:cs typeface="Montserrat"/>
                <a:sym typeface="Montserrat"/>
              </a:rPr>
              <a:t>Exemplo: Controle de temperatura de uma estufa.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246887" lvl="1" marL="658368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Font typeface="Montserrat"/>
              <a:buChar char="▫"/>
            </a:pPr>
            <a:r>
              <a:rPr lang="pt-BR" sz="2400">
                <a:latin typeface="Montserrat"/>
                <a:ea typeface="Montserrat"/>
                <a:cs typeface="Montserrat"/>
                <a:sym typeface="Montserrat"/>
              </a:rPr>
              <a:t>Uma estufa deve manter a temperatura interna sempre na faixa entre 15º e 20º C controlada automaticamente por um sistema de controle digital.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246887" lvl="1" marL="658368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Font typeface="Montserrat"/>
              <a:buChar char="▫"/>
            </a:pPr>
            <a:r>
              <a:rPr lang="pt-BR" sz="2400">
                <a:latin typeface="Montserrat"/>
                <a:ea typeface="Montserrat"/>
                <a:cs typeface="Montserrat"/>
                <a:sym typeface="Montserrat"/>
              </a:rPr>
              <a:t>Para isso, foram instalados internamente dois sensores de temperatura que fornecem níveis lógicos 0 e 1 nas seguintes condições: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219455" lvl="2" marL="923544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Font typeface="Montserrat"/>
              <a:buChar char="●"/>
            </a:pPr>
            <a:r>
              <a:rPr lang="pt-BR" sz="2000">
                <a:latin typeface="Montserrat"/>
                <a:ea typeface="Montserrat"/>
                <a:cs typeface="Montserrat"/>
                <a:sym typeface="Montserrat"/>
              </a:rPr>
              <a:t>T1 = 1 para temperatura &gt;= 15º C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219455" lvl="2" marL="923544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Font typeface="Montserrat"/>
              <a:buChar char="●"/>
            </a:pPr>
            <a:r>
              <a:rPr lang="pt-BR" sz="2000">
                <a:latin typeface="Montserrat"/>
                <a:ea typeface="Montserrat"/>
                <a:cs typeface="Montserrat"/>
                <a:sym typeface="Montserrat"/>
              </a:rPr>
              <a:t>T2 = 1 para temperatura &gt;= 20º C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6" name="Google Shape;256;p15" title="Logo la salle OFICIAL Colorid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6332723"/>
            <a:ext cx="1167048" cy="42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6"/>
          <p:cNvSpPr txBox="1"/>
          <p:nvPr>
            <p:ph type="title"/>
          </p:nvPr>
        </p:nvSpPr>
        <p:spPr>
          <a:xfrm>
            <a:off x="467544" y="836712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None/>
            </a:pPr>
            <a:r>
              <a:rPr lang="pt-BR" sz="3100">
                <a:latin typeface="Montserrat"/>
                <a:ea typeface="Montserrat"/>
                <a:cs typeface="Montserrat"/>
                <a:sym typeface="Montserrat"/>
              </a:rPr>
              <a:t>Aplicações dos Circuitos Combinacionais</a:t>
            </a:r>
            <a:endParaRPr sz="3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2" name="Google Shape;262;p16"/>
          <p:cNvSpPr txBox="1"/>
          <p:nvPr>
            <p:ph idx="1" type="body"/>
          </p:nvPr>
        </p:nvSpPr>
        <p:spPr>
          <a:xfrm>
            <a:off x="457200" y="1980456"/>
            <a:ext cx="8229600" cy="44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56031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Montserrat"/>
              <a:buChar char="•"/>
            </a:pPr>
            <a:r>
              <a:rPr lang="pt-BR" sz="2400">
                <a:latin typeface="Montserrat"/>
                <a:ea typeface="Montserrat"/>
                <a:cs typeface="Montserrat"/>
                <a:sym typeface="Montserrat"/>
              </a:rPr>
              <a:t>Deve-se projetar o circuito combinacional para fazer o controle da temperatura da estufa através do acionamento de um aquecedor A ou de um resfriador R sempre que a temperatura interna cair abaixo de 15º C ou subir acima de 20º C, conforme mostra o diagrama de blocos dado a seguir: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1081"/>
              <a:buNone/>
            </a:pPr>
            <a:r>
              <a:t/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1081"/>
              <a:buNone/>
            </a:pPr>
            <a:r>
              <a:t/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-115061" lvl="0" marL="36576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-115061" lvl="0" marL="36576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-115061" lvl="0" marL="36576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-115061" lvl="0" marL="36576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-256031" lvl="0" marL="36576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Font typeface="Montserrat"/>
              <a:buChar char="•"/>
            </a:pPr>
            <a:r>
              <a:rPr lang="pt-BR" sz="2400">
                <a:latin typeface="Montserrat"/>
                <a:ea typeface="Montserrat"/>
                <a:cs typeface="Montserrat"/>
                <a:sym typeface="Montserrat"/>
              </a:rPr>
              <a:t>Caso a temperatura interna da estufa esteja dentro da faixa desejada, os sistemas de aquecimento e resfriamento devem ficar desligados, A=R=0.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63" name="Google Shape;263;p16"/>
          <p:cNvGrpSpPr/>
          <p:nvPr/>
        </p:nvGrpSpPr>
        <p:grpSpPr>
          <a:xfrm>
            <a:off x="1403648" y="3861048"/>
            <a:ext cx="5544616" cy="1440160"/>
            <a:chOff x="1331640" y="4581128"/>
            <a:chExt cx="5544616" cy="1440160"/>
          </a:xfrm>
        </p:grpSpPr>
        <p:sp>
          <p:nvSpPr>
            <p:cNvPr id="264" name="Google Shape;264;p16"/>
            <p:cNvSpPr txBox="1"/>
            <p:nvPr/>
          </p:nvSpPr>
          <p:spPr>
            <a:xfrm>
              <a:off x="1979712" y="4797152"/>
              <a:ext cx="1305165" cy="646331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rPr>
                <a:t>Circuito de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rPr>
                <a:t>Controle</a:t>
              </a:r>
              <a:endPara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65" name="Google Shape;265;p16"/>
            <p:cNvSpPr/>
            <p:nvPr/>
          </p:nvSpPr>
          <p:spPr>
            <a:xfrm>
              <a:off x="5508104" y="4725144"/>
              <a:ext cx="1368152" cy="648072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3C3D6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66" name="Google Shape;266;p16"/>
            <p:cNvSpPr txBox="1"/>
            <p:nvPr/>
          </p:nvSpPr>
          <p:spPr>
            <a:xfrm>
              <a:off x="6300192" y="5085184"/>
              <a:ext cx="3962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pt-BR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rPr>
                <a:t>T2</a:t>
              </a:r>
              <a:endPara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67" name="Google Shape;267;p16"/>
            <p:cNvSpPr txBox="1"/>
            <p:nvPr/>
          </p:nvSpPr>
          <p:spPr>
            <a:xfrm>
              <a:off x="5652120" y="5085184"/>
              <a:ext cx="37221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pt-BR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rPr>
                <a:t>T1</a:t>
              </a:r>
              <a:endPara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cxnSp>
          <p:nvCxnSpPr>
            <p:cNvPr id="268" name="Google Shape;268;p16"/>
            <p:cNvCxnSpPr/>
            <p:nvPr/>
          </p:nvCxnSpPr>
          <p:spPr>
            <a:xfrm>
              <a:off x="3275856" y="4869160"/>
              <a:ext cx="2232248" cy="1588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269" name="Google Shape;269;p16"/>
            <p:cNvCxnSpPr/>
            <p:nvPr/>
          </p:nvCxnSpPr>
          <p:spPr>
            <a:xfrm>
              <a:off x="3275856" y="5229200"/>
              <a:ext cx="2232248" cy="1588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270" name="Google Shape;270;p16"/>
            <p:cNvSpPr txBox="1"/>
            <p:nvPr/>
          </p:nvSpPr>
          <p:spPr>
            <a:xfrm>
              <a:off x="4211960" y="4581128"/>
              <a:ext cx="30489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pt-BR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71" name="Google Shape;271;p16"/>
            <p:cNvSpPr txBox="1"/>
            <p:nvPr/>
          </p:nvSpPr>
          <p:spPr>
            <a:xfrm>
              <a:off x="4211960" y="4941168"/>
              <a:ext cx="30168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pt-BR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cxnSp>
          <p:nvCxnSpPr>
            <p:cNvPr id="272" name="Google Shape;272;p16"/>
            <p:cNvCxnSpPr/>
            <p:nvPr/>
          </p:nvCxnSpPr>
          <p:spPr>
            <a:xfrm rot="5400000">
              <a:off x="6120172" y="5697252"/>
              <a:ext cx="648072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3" name="Google Shape;273;p16"/>
            <p:cNvCxnSpPr/>
            <p:nvPr/>
          </p:nvCxnSpPr>
          <p:spPr>
            <a:xfrm rot="5400000">
              <a:off x="5616116" y="5553236"/>
              <a:ext cx="36004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4" name="Google Shape;274;p16"/>
            <p:cNvCxnSpPr/>
            <p:nvPr/>
          </p:nvCxnSpPr>
          <p:spPr>
            <a:xfrm rot="10800000">
              <a:off x="1763688" y="5733256"/>
              <a:ext cx="4032448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5" name="Google Shape;275;p16"/>
            <p:cNvCxnSpPr/>
            <p:nvPr/>
          </p:nvCxnSpPr>
          <p:spPr>
            <a:xfrm rot="10800000">
              <a:off x="1331640" y="6021288"/>
              <a:ext cx="5112568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6" name="Google Shape;276;p16"/>
            <p:cNvCxnSpPr/>
            <p:nvPr/>
          </p:nvCxnSpPr>
          <p:spPr>
            <a:xfrm rot="5400000">
              <a:off x="1547664" y="5517232"/>
              <a:ext cx="432048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7" name="Google Shape;277;p16"/>
            <p:cNvCxnSpPr/>
            <p:nvPr/>
          </p:nvCxnSpPr>
          <p:spPr>
            <a:xfrm>
              <a:off x="1763688" y="5301208"/>
              <a:ext cx="216024" cy="1588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278" name="Google Shape;278;p16"/>
            <p:cNvCxnSpPr/>
            <p:nvPr/>
          </p:nvCxnSpPr>
          <p:spPr>
            <a:xfrm rot="5400000">
              <a:off x="791580" y="5481228"/>
              <a:ext cx="108012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9" name="Google Shape;279;p16"/>
            <p:cNvCxnSpPr/>
            <p:nvPr/>
          </p:nvCxnSpPr>
          <p:spPr>
            <a:xfrm>
              <a:off x="1331640" y="4941168"/>
              <a:ext cx="648072" cy="1588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pic>
        <p:nvPicPr>
          <p:cNvPr id="280" name="Google Shape;280;p16" title="Logo la salle OFICIAL Colorid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6332723"/>
            <a:ext cx="1167048" cy="42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7"/>
          <p:cNvSpPr txBox="1"/>
          <p:nvPr>
            <p:ph type="title"/>
          </p:nvPr>
        </p:nvSpPr>
        <p:spPr>
          <a:xfrm>
            <a:off x="467544" y="764704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None/>
            </a:pPr>
            <a:r>
              <a:rPr lang="pt-BR" sz="3100">
                <a:latin typeface="Montserrat"/>
                <a:ea typeface="Montserrat"/>
                <a:cs typeface="Montserrat"/>
                <a:sym typeface="Montserrat"/>
              </a:rPr>
              <a:t>Aplicações dos Circuitos Combinacionais</a:t>
            </a:r>
            <a:endParaRPr sz="3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6" name="Google Shape;286;p17"/>
          <p:cNvSpPr txBox="1"/>
          <p:nvPr>
            <p:ph idx="1" type="body"/>
          </p:nvPr>
        </p:nvSpPr>
        <p:spPr>
          <a:xfrm>
            <a:off x="467544" y="2132856"/>
            <a:ext cx="8229600" cy="4585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32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•"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Variáveis de entrada: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246887" lvl="1" marL="658368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Montserrat"/>
              <a:buChar char="▫"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T1: sensor para temperatura &gt;= 15º C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246887" lvl="1" marL="658368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Montserrat"/>
              <a:buChar char="▫"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T2: sensor para temperatura &gt;= 20º C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78232" lvl="0" marL="36576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256032" lvl="0" marL="36576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Font typeface="Montserrat"/>
              <a:buChar char="•"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Variáveis de saída: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246887" lvl="1" marL="658368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Montserrat"/>
              <a:buChar char="▫"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A: sistema de aquecimento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246887" lvl="1" marL="658368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Montserrat"/>
              <a:buChar char="▫"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R: sistema de resfriamento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87" name="Google Shape;287;p17" title="Logo la salle OFICIAL Colorid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6332723"/>
            <a:ext cx="1167048" cy="42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8"/>
          <p:cNvSpPr txBox="1"/>
          <p:nvPr>
            <p:ph type="title"/>
          </p:nvPr>
        </p:nvSpPr>
        <p:spPr>
          <a:xfrm>
            <a:off x="467544" y="836712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None/>
            </a:pPr>
            <a:r>
              <a:rPr lang="pt-BR" sz="3100">
                <a:latin typeface="Montserrat"/>
                <a:ea typeface="Montserrat"/>
                <a:cs typeface="Montserrat"/>
                <a:sym typeface="Montserrat"/>
              </a:rPr>
              <a:t>Aplicações dos Circuitos Combinacionais</a:t>
            </a:r>
            <a:endParaRPr sz="3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3" name="Google Shape;293;p18"/>
          <p:cNvSpPr txBox="1"/>
          <p:nvPr>
            <p:ph idx="1" type="body"/>
          </p:nvPr>
        </p:nvSpPr>
        <p:spPr>
          <a:xfrm>
            <a:off x="457200" y="2060848"/>
            <a:ext cx="8229600" cy="4513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32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•"/>
            </a:pPr>
            <a:r>
              <a:rPr lang="pt-BR" sz="2400">
                <a:latin typeface="Montserrat"/>
                <a:ea typeface="Montserrat"/>
                <a:cs typeface="Montserrat"/>
                <a:sym typeface="Montserrat"/>
              </a:rPr>
              <a:t>Tabela verdade do circuito: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78232" lvl="0" marL="36576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78232" lvl="0" marL="36576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78232" lvl="0" marL="36576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78232" lvl="0" marL="36576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78232" lvl="0" marL="36576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256032" lvl="0" marL="36576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Font typeface="Montserrat"/>
              <a:buChar char="•"/>
            </a:pPr>
            <a:r>
              <a:rPr lang="pt-BR" sz="2000">
                <a:latin typeface="Montserrat"/>
                <a:ea typeface="Montserrat"/>
                <a:cs typeface="Montserrat"/>
                <a:sym typeface="Montserrat"/>
              </a:rPr>
              <a:t>X é um valor irrelevante.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256032" lvl="0" marL="36576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Font typeface="Montserrat"/>
              <a:buChar char="•"/>
            </a:pPr>
            <a:r>
              <a:rPr lang="pt-BR" sz="2000">
                <a:latin typeface="Montserrat"/>
                <a:ea typeface="Montserrat"/>
                <a:cs typeface="Montserrat"/>
                <a:sym typeface="Montserrat"/>
              </a:rPr>
              <a:t>Expressões booleanas: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81787" lvl="1" marL="658368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94" name="Google Shape;294;p18"/>
          <p:cNvGraphicFramePr/>
          <p:nvPr/>
        </p:nvGraphicFramePr>
        <p:xfrm>
          <a:off x="683568" y="26369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{C37034FC-1CD2-4816-9530-0CB3F43958B3}</a:tableStyleId>
              </a:tblPr>
              <a:tblGrid>
                <a:gridCol w="504050"/>
                <a:gridCol w="504050"/>
                <a:gridCol w="504050"/>
                <a:gridCol w="504050"/>
                <a:gridCol w="53286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pt-BR" sz="1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T1</a:t>
                      </a:r>
                      <a:endParaRPr sz="17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pt-BR" sz="1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T2</a:t>
                      </a:r>
                      <a:endParaRPr sz="17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pt-BR" sz="1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</a:t>
                      </a:r>
                      <a:endParaRPr sz="17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pt-BR" sz="1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</a:t>
                      </a:r>
                      <a:endParaRPr sz="17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pt-BR" sz="1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Situação</a:t>
                      </a:r>
                      <a:endParaRPr sz="17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pt-BR" sz="1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7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pt-BR" sz="1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7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pt-BR" sz="1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17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pt-BR" sz="1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7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pt-BR" sz="1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Temperatura abaixo de 15º C.</a:t>
                      </a:r>
                      <a:endParaRPr sz="17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pt-BR" sz="1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7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pt-BR" sz="1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17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pt-BR" sz="1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</a:t>
                      </a:r>
                      <a:endParaRPr sz="17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pt-BR" sz="1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</a:t>
                      </a:r>
                      <a:endParaRPr sz="17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pt-BR" sz="1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Condição impossível para os sensores.</a:t>
                      </a:r>
                      <a:endParaRPr sz="17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pt-BR" sz="1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17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pt-BR" sz="1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7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pt-BR" sz="1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7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pt-BR" sz="1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7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pt-BR" sz="1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Temperatura dentro da faixa desejada</a:t>
                      </a:r>
                      <a:endParaRPr sz="17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pt-BR" sz="1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17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pt-BR" sz="1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17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pt-BR" sz="1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7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pt-BR" sz="1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17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pt-BR" sz="1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Temperatura acima de 20º C.</a:t>
                      </a:r>
                      <a:endParaRPr sz="17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95" name="Google Shape;295;p18"/>
          <p:cNvSpPr txBox="1"/>
          <p:nvPr/>
        </p:nvSpPr>
        <p:spPr>
          <a:xfrm>
            <a:off x="2843808" y="6093296"/>
            <a:ext cx="12891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 = T1 . T2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6" name="Google Shape;296;p18"/>
          <p:cNvSpPr txBox="1"/>
          <p:nvPr/>
        </p:nvSpPr>
        <p:spPr>
          <a:xfrm>
            <a:off x="2843799" y="5661250"/>
            <a:ext cx="148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= T1’ . T2’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97" name="Google Shape;297;p18" title="Logo la salle OFICIAL Colorid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6332723"/>
            <a:ext cx="1167048" cy="42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9"/>
          <p:cNvSpPr txBox="1"/>
          <p:nvPr>
            <p:ph type="title"/>
          </p:nvPr>
        </p:nvSpPr>
        <p:spPr>
          <a:xfrm>
            <a:off x="467544" y="764704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None/>
            </a:pPr>
            <a:r>
              <a:rPr lang="pt-BR" sz="3100">
                <a:latin typeface="Montserrat"/>
                <a:ea typeface="Montserrat"/>
                <a:cs typeface="Montserrat"/>
                <a:sym typeface="Montserrat"/>
              </a:rPr>
              <a:t>Aplicações dos Circuitos Combinacionais</a:t>
            </a:r>
            <a:endParaRPr sz="3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3" name="Google Shape;303;p19"/>
          <p:cNvSpPr txBox="1"/>
          <p:nvPr>
            <p:ph idx="1" type="body"/>
          </p:nvPr>
        </p:nvSpPr>
        <p:spPr>
          <a:xfrm>
            <a:off x="457200" y="1988840"/>
            <a:ext cx="8229600" cy="4585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32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•"/>
            </a:pPr>
            <a:r>
              <a:rPr lang="pt-BR" sz="2400">
                <a:latin typeface="Montserrat"/>
                <a:ea typeface="Montserrat"/>
                <a:cs typeface="Montserrat"/>
                <a:sym typeface="Montserrat"/>
              </a:rPr>
              <a:t>A partir das expressões booleanas, pode-se implementar o circuito combinacional correspondente: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78232" lvl="0" marL="36576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4" name="Google Shape;304;p19"/>
          <p:cNvSpPr txBox="1"/>
          <p:nvPr/>
        </p:nvSpPr>
        <p:spPr>
          <a:xfrm>
            <a:off x="3347864" y="3356992"/>
            <a:ext cx="12891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 = T1 . T2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05" name="Google Shape;305;p19"/>
          <p:cNvGrpSpPr/>
          <p:nvPr/>
        </p:nvGrpSpPr>
        <p:grpSpPr>
          <a:xfrm>
            <a:off x="1907704" y="4221088"/>
            <a:ext cx="5207848" cy="1368152"/>
            <a:chOff x="1835696" y="4653136"/>
            <a:chExt cx="5207848" cy="1368152"/>
          </a:xfrm>
        </p:grpSpPr>
        <p:sp>
          <p:nvSpPr>
            <p:cNvPr id="306" name="Google Shape;306;p19"/>
            <p:cNvSpPr/>
            <p:nvPr/>
          </p:nvSpPr>
          <p:spPr>
            <a:xfrm>
              <a:off x="4572000" y="4725144"/>
              <a:ext cx="432048" cy="504056"/>
            </a:xfrm>
            <a:prstGeom prst="flowChartDelay">
              <a:avLst/>
            </a:prstGeom>
            <a:solidFill>
              <a:schemeClr val="lt1"/>
            </a:solidFill>
            <a:ln cap="flat" cmpd="sng" w="19050">
              <a:solidFill>
                <a:srgbClr val="3C3D6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cxnSp>
          <p:nvCxnSpPr>
            <p:cNvPr id="307" name="Google Shape;307;p19"/>
            <p:cNvCxnSpPr/>
            <p:nvPr/>
          </p:nvCxnSpPr>
          <p:spPr>
            <a:xfrm>
              <a:off x="2123728" y="4797152"/>
              <a:ext cx="1296144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8" name="Google Shape;308;p19"/>
            <p:cNvCxnSpPr>
              <a:endCxn id="309" idx="1"/>
            </p:cNvCxnSpPr>
            <p:nvPr/>
          </p:nvCxnSpPr>
          <p:spPr>
            <a:xfrm>
              <a:off x="2123876" y="5157192"/>
              <a:ext cx="1332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10" name="Google Shape;310;p19"/>
            <p:cNvSpPr/>
            <p:nvPr/>
          </p:nvSpPr>
          <p:spPr>
            <a:xfrm>
              <a:off x="3551009" y="4750902"/>
              <a:ext cx="72008" cy="72008"/>
            </a:xfrm>
            <a:prstGeom prst="flowChartConnector">
              <a:avLst/>
            </a:pr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cxnSp>
          <p:nvCxnSpPr>
            <p:cNvPr id="311" name="Google Shape;311;p19"/>
            <p:cNvCxnSpPr/>
            <p:nvPr/>
          </p:nvCxnSpPr>
          <p:spPr>
            <a:xfrm>
              <a:off x="3635896" y="5157192"/>
              <a:ext cx="936104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12" name="Google Shape;312;p19"/>
            <p:cNvSpPr/>
            <p:nvPr/>
          </p:nvSpPr>
          <p:spPr>
            <a:xfrm>
              <a:off x="5868144" y="5517232"/>
              <a:ext cx="432048" cy="504056"/>
            </a:xfrm>
            <a:prstGeom prst="flowChartDelay">
              <a:avLst/>
            </a:prstGeom>
            <a:solidFill>
              <a:schemeClr val="lt1"/>
            </a:solidFill>
            <a:ln cap="flat" cmpd="sng" w="19050">
              <a:solidFill>
                <a:srgbClr val="3C3D6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cxnSp>
          <p:nvCxnSpPr>
            <p:cNvPr id="313" name="Google Shape;313;p19"/>
            <p:cNvCxnSpPr/>
            <p:nvPr/>
          </p:nvCxnSpPr>
          <p:spPr>
            <a:xfrm>
              <a:off x="3635896" y="4797152"/>
              <a:ext cx="936104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4" name="Google Shape;314;p19"/>
            <p:cNvCxnSpPr/>
            <p:nvPr/>
          </p:nvCxnSpPr>
          <p:spPr>
            <a:xfrm rot="5400000">
              <a:off x="2231740" y="5553236"/>
              <a:ext cx="792088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5" name="Google Shape;315;p19"/>
            <p:cNvCxnSpPr/>
            <p:nvPr/>
          </p:nvCxnSpPr>
          <p:spPr>
            <a:xfrm>
              <a:off x="2627784" y="5949280"/>
              <a:ext cx="324036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6" name="Google Shape;316;p19"/>
            <p:cNvCxnSpPr/>
            <p:nvPr/>
          </p:nvCxnSpPr>
          <p:spPr>
            <a:xfrm>
              <a:off x="5004048" y="4941168"/>
              <a:ext cx="504056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17" name="Google Shape;317;p19"/>
            <p:cNvSpPr txBox="1"/>
            <p:nvPr/>
          </p:nvSpPr>
          <p:spPr>
            <a:xfrm>
              <a:off x="1835696" y="4653136"/>
              <a:ext cx="37221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pt-BR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rPr>
                <a:t>T1</a:t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18" name="Google Shape;318;p19"/>
            <p:cNvSpPr txBox="1"/>
            <p:nvPr/>
          </p:nvSpPr>
          <p:spPr>
            <a:xfrm>
              <a:off x="1835696" y="5013176"/>
              <a:ext cx="3962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pt-BR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rPr>
                <a:t>T2</a:t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19" name="Google Shape;319;p19"/>
            <p:cNvSpPr txBox="1"/>
            <p:nvPr/>
          </p:nvSpPr>
          <p:spPr>
            <a:xfrm>
              <a:off x="5508104" y="4653136"/>
              <a:ext cx="30489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pt-BR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rPr>
                <a:t>A</a:t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20" name="Google Shape;320;p19"/>
            <p:cNvSpPr txBox="1"/>
            <p:nvPr/>
          </p:nvSpPr>
          <p:spPr>
            <a:xfrm>
              <a:off x="6732240" y="5373216"/>
              <a:ext cx="31130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pt-BR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rPr>
                <a:t>R</a:t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cxnSp>
          <p:nvCxnSpPr>
            <p:cNvPr id="321" name="Google Shape;321;p19"/>
            <p:cNvCxnSpPr/>
            <p:nvPr/>
          </p:nvCxnSpPr>
          <p:spPr>
            <a:xfrm>
              <a:off x="6300192" y="5733256"/>
              <a:ext cx="504056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22" name="Google Shape;322;p19"/>
            <p:cNvSpPr/>
            <p:nvPr/>
          </p:nvSpPr>
          <p:spPr>
            <a:xfrm>
              <a:off x="3419872" y="4725144"/>
              <a:ext cx="144016" cy="144016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12700">
              <a:solidFill>
                <a:srgbClr val="3C3D6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09" name="Google Shape;309;p19"/>
            <p:cNvSpPr/>
            <p:nvPr/>
          </p:nvSpPr>
          <p:spPr>
            <a:xfrm>
              <a:off x="3419872" y="5085184"/>
              <a:ext cx="144016" cy="144016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12700">
              <a:solidFill>
                <a:srgbClr val="3C3D6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23" name="Google Shape;323;p19"/>
            <p:cNvSpPr/>
            <p:nvPr/>
          </p:nvSpPr>
          <p:spPr>
            <a:xfrm>
              <a:off x="3551009" y="5118555"/>
              <a:ext cx="72008" cy="72008"/>
            </a:xfrm>
            <a:prstGeom prst="flowChartConnector">
              <a:avLst/>
            </a:pr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cxnSp>
          <p:nvCxnSpPr>
            <p:cNvPr id="324" name="Google Shape;324;p19"/>
            <p:cNvCxnSpPr/>
            <p:nvPr/>
          </p:nvCxnSpPr>
          <p:spPr>
            <a:xfrm>
              <a:off x="2987824" y="5589240"/>
              <a:ext cx="288032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5" name="Google Shape;325;p19"/>
            <p:cNvCxnSpPr/>
            <p:nvPr/>
          </p:nvCxnSpPr>
          <p:spPr>
            <a:xfrm rot="5400000">
              <a:off x="2591780" y="5193196"/>
              <a:ext cx="792088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26" name="Google Shape;326;p19"/>
          <p:cNvSpPr txBox="1"/>
          <p:nvPr/>
        </p:nvSpPr>
        <p:spPr>
          <a:xfrm>
            <a:off x="3347878" y="3001150"/>
            <a:ext cx="15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= T1’ . T2’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7" name="Google Shape;327;p19" title="Logo la salle OFICIAL Colorid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6332723"/>
            <a:ext cx="1167048" cy="42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Urbano">
  <a:themeElements>
    <a:clrScheme name="Urbano">
      <a:dk1>
        <a:srgbClr val="000000"/>
      </a:dk1>
      <a:lt1>
        <a:srgbClr val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2010-09-28T14:44:53Z</dcterms:created>
  <dc:creator>Cris</dc:creator>
</cp:coreProperties>
</file>